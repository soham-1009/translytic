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ileron Bold" panose="020B0604020202020204" charset="0"/>
      <p:regular r:id="rId11"/>
    </p:embeddedFont>
    <p:embeddedFont>
      <p:font typeface="Aileron Light" panose="020B0604020202020204" charset="0"/>
      <p:regular r:id="rId12"/>
    </p:embeddedFont>
    <p:embeddedFont>
      <p:font typeface="Akzidenz-Grotesk" panose="020B0604020202020204" charset="0"/>
      <p:regular r:id="rId13"/>
    </p:embeddedFont>
    <p:embeddedFont>
      <p:font typeface="Akzidenz-Grotesk Heavy" panose="020B0604020202020204" charset="0"/>
      <p:regular r:id="rId14"/>
    </p:embeddedFont>
    <p:embeddedFont>
      <p:font typeface="Bricolage Grotesque Bold" panose="020B0604020202020204" charset="0"/>
      <p:regular r:id="rId15"/>
    </p:embeddedFont>
    <p:embeddedFont>
      <p:font typeface="Open Sauce" panose="020B0604020202020204" charset="0"/>
      <p:regular r:id="rId16"/>
    </p:embeddedFont>
    <p:embeddedFont>
      <p:font typeface="Open Sauce Bold" panose="020B0604020202020204" charset="0"/>
      <p:regular r:id="rId17"/>
    </p:embeddedFont>
    <p:embeddedFont>
      <p:font typeface="Open Sauce Italics" panose="020B0604020202020204" charset="0"/>
      <p:regular r:id="rId18"/>
    </p:embeddedFont>
    <p:embeddedFont>
      <p:font typeface="Open Sauce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594" y="2063021"/>
            <a:ext cx="16872497" cy="2372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490"/>
              </a:lnSpc>
            </a:pPr>
            <a:r>
              <a:rPr lang="en-US" sz="18800" b="1" spc="571" dirty="0">
                <a:solidFill>
                  <a:srgbClr val="EFEFEF">
                    <a:alpha val="82745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TRANSLYTIC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4505829"/>
            <a:ext cx="18301843" cy="2379468"/>
            <a:chOff x="0" y="0"/>
            <a:chExt cx="5325873" cy="6924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25873" cy="692430"/>
            </a:xfrm>
            <a:custGeom>
              <a:avLst/>
              <a:gdLst/>
              <a:ahLst/>
              <a:cxnLst/>
              <a:rect l="l" t="t" r="r" b="b"/>
              <a:pathLst>
                <a:path w="5325873" h="692430">
                  <a:moveTo>
                    <a:pt x="0" y="0"/>
                  </a:moveTo>
                  <a:lnTo>
                    <a:pt x="5325873" y="0"/>
                  </a:lnTo>
                  <a:lnTo>
                    <a:pt x="5325873" y="692430"/>
                  </a:lnTo>
                  <a:lnTo>
                    <a:pt x="0" y="692430"/>
                  </a:lnTo>
                  <a:close/>
                </a:path>
              </a:pathLst>
            </a:custGeom>
            <a:gradFill rotWithShape="1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5325873" cy="69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43" y="2077859"/>
            <a:ext cx="9365868" cy="3388741"/>
          </a:xfrm>
          <a:custGeom>
            <a:avLst/>
            <a:gdLst/>
            <a:ahLst/>
            <a:cxnLst/>
            <a:rect l="l" t="t" r="r" b="b"/>
            <a:pathLst>
              <a:path w="9365868" h="3388741">
                <a:moveTo>
                  <a:pt x="0" y="0"/>
                </a:moveTo>
                <a:lnTo>
                  <a:pt x="9365868" y="0"/>
                </a:lnTo>
                <a:lnTo>
                  <a:pt x="9365868" y="3388741"/>
                </a:lnTo>
                <a:lnTo>
                  <a:pt x="0" y="3388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62210" y="607830"/>
            <a:ext cx="8125790" cy="2940058"/>
          </a:xfrm>
          <a:custGeom>
            <a:avLst/>
            <a:gdLst/>
            <a:ahLst/>
            <a:cxnLst/>
            <a:rect l="l" t="t" r="r" b="b"/>
            <a:pathLst>
              <a:path w="8125790" h="2940058">
                <a:moveTo>
                  <a:pt x="0" y="0"/>
                </a:moveTo>
                <a:lnTo>
                  <a:pt x="8125790" y="0"/>
                </a:lnTo>
                <a:lnTo>
                  <a:pt x="8125790" y="2940058"/>
                </a:lnTo>
                <a:lnTo>
                  <a:pt x="0" y="29400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843" y="2668635"/>
            <a:ext cx="18288000" cy="7618365"/>
            <a:chOff x="0" y="0"/>
            <a:chExt cx="24384000" cy="1015782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4571891"/>
              <a:ext cx="3484342" cy="5585929"/>
              <a:chOff x="0" y="0"/>
              <a:chExt cx="795961" cy="127604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5961" cy="1276046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76046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76046"/>
                    </a:lnTo>
                    <a:lnTo>
                      <a:pt x="0" y="12760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795961" cy="12760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20899658" y="4571891"/>
              <a:ext cx="3484342" cy="5585929"/>
              <a:chOff x="0" y="0"/>
              <a:chExt cx="795961" cy="127604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95961" cy="1276046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76046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76046"/>
                    </a:lnTo>
                    <a:lnTo>
                      <a:pt x="0" y="12760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795961" cy="12760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484342" y="3302913"/>
              <a:ext cx="3484342" cy="6854907"/>
              <a:chOff x="0" y="0"/>
              <a:chExt cx="795961" cy="15659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95961" cy="156593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6593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65930"/>
                    </a:lnTo>
                    <a:lnTo>
                      <a:pt x="0" y="15659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795961" cy="15659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7415315" y="3302913"/>
              <a:ext cx="3484342" cy="6854907"/>
              <a:chOff x="0" y="0"/>
              <a:chExt cx="795961" cy="15659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95961" cy="156593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6593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65930"/>
                    </a:lnTo>
                    <a:lnTo>
                      <a:pt x="0" y="15659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795961" cy="15659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968685" y="1935161"/>
              <a:ext cx="3484342" cy="8222659"/>
              <a:chOff x="0" y="0"/>
              <a:chExt cx="795961" cy="187837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95961" cy="1878378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78378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78378"/>
                    </a:lnTo>
                    <a:lnTo>
                      <a:pt x="0" y="187837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795961" cy="18783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3937369" y="1935161"/>
              <a:ext cx="3484342" cy="8222659"/>
              <a:chOff x="0" y="0"/>
              <a:chExt cx="795961" cy="187837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95961" cy="1878378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78378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78378"/>
                    </a:lnTo>
                    <a:lnTo>
                      <a:pt x="0" y="187837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795961" cy="18783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453027" y="0"/>
              <a:ext cx="3484342" cy="10157821"/>
              <a:chOff x="0" y="0"/>
              <a:chExt cx="795961" cy="232044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95961" cy="2320445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320445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320445"/>
                    </a:lnTo>
                    <a:lnTo>
                      <a:pt x="0" y="232044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0"/>
                <a:ext cx="795961" cy="23204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sp>
        <p:nvSpPr>
          <p:cNvPr id="30" name="Freeform 30"/>
          <p:cNvSpPr/>
          <p:nvPr/>
        </p:nvSpPr>
        <p:spPr>
          <a:xfrm>
            <a:off x="8606881" y="7561571"/>
            <a:ext cx="1074239" cy="1074239"/>
          </a:xfrm>
          <a:custGeom>
            <a:avLst/>
            <a:gdLst/>
            <a:ahLst/>
            <a:cxnLst/>
            <a:rect l="l" t="t" r="r" b="b"/>
            <a:pathLst>
              <a:path w="1074239" h="1074239">
                <a:moveTo>
                  <a:pt x="0" y="0"/>
                </a:moveTo>
                <a:lnTo>
                  <a:pt x="1074238" y="0"/>
                </a:lnTo>
                <a:lnTo>
                  <a:pt x="1074238" y="1074239"/>
                </a:lnTo>
                <a:lnTo>
                  <a:pt x="0" y="1074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129726" y="5372582"/>
            <a:ext cx="12056234" cy="218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4"/>
              </a:lnSpc>
            </a:pPr>
            <a:r>
              <a:rPr lang="en-US" sz="5567" b="1" spc="-105">
                <a:solidFill>
                  <a:srgbClr val="EFEFE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AI BASED VIDEO TRANSLATION </a:t>
            </a:r>
          </a:p>
          <a:p>
            <a:pPr algn="ctr">
              <a:lnSpc>
                <a:spcPts val="5344"/>
              </a:lnSpc>
            </a:pPr>
            <a:r>
              <a:rPr lang="en-US" sz="5567" b="1" spc="-105">
                <a:solidFill>
                  <a:srgbClr val="EFEFE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&amp; </a:t>
            </a:r>
          </a:p>
          <a:p>
            <a:pPr marL="0" lvl="0" indent="0" algn="ctr">
              <a:lnSpc>
                <a:spcPts val="5344"/>
              </a:lnSpc>
            </a:pPr>
            <a:r>
              <a:rPr lang="en-US" sz="5567" b="1" spc="-105">
                <a:solidFill>
                  <a:srgbClr val="EFEFE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CAPTION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7378284"/>
            <a:chOff x="0" y="0"/>
            <a:chExt cx="24384000" cy="983771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427815"/>
              <a:ext cx="3484342" cy="5409897"/>
              <a:chOff x="0" y="0"/>
              <a:chExt cx="795961" cy="12358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0899658" y="4427815"/>
              <a:ext cx="3484342" cy="5409897"/>
              <a:chOff x="0" y="0"/>
              <a:chExt cx="795961" cy="12358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84342" y="3198827"/>
              <a:ext cx="3484342" cy="6638885"/>
              <a:chOff x="0" y="0"/>
              <a:chExt cx="795961" cy="151658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7415315" y="3198827"/>
              <a:ext cx="3484342" cy="6638885"/>
              <a:chOff x="0" y="0"/>
              <a:chExt cx="795961" cy="151658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968685" y="1874177"/>
              <a:ext cx="3484342" cy="7963534"/>
              <a:chOff x="0" y="0"/>
              <a:chExt cx="795961" cy="181918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937369" y="1874177"/>
              <a:ext cx="3484342" cy="7963534"/>
              <a:chOff x="0" y="0"/>
              <a:chExt cx="795961" cy="181918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453027" y="0"/>
              <a:ext cx="3484342" cy="9837711"/>
              <a:chOff x="0" y="0"/>
              <a:chExt cx="795961" cy="224732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95961" cy="224732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24732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795961" cy="2247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3560934" y="505729"/>
            <a:ext cx="2679749" cy="502851"/>
            <a:chOff x="0" y="0"/>
            <a:chExt cx="2165751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65751" cy="406400"/>
            </a:xfrm>
            <a:custGeom>
              <a:avLst/>
              <a:gdLst/>
              <a:ahLst/>
              <a:cxnLst/>
              <a:rect l="l" t="t" r="r" b="b"/>
              <a:pathLst>
                <a:path w="2165751" h="406400">
                  <a:moveTo>
                    <a:pt x="1962551" y="0"/>
                  </a:moveTo>
                  <a:cubicBezTo>
                    <a:pt x="2074775" y="0"/>
                    <a:pt x="2165751" y="90976"/>
                    <a:pt x="2165751" y="203200"/>
                  </a:cubicBezTo>
                  <a:cubicBezTo>
                    <a:pt x="2165751" y="315424"/>
                    <a:pt x="2074775" y="406400"/>
                    <a:pt x="19625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042D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165751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4186" y="505729"/>
            <a:ext cx="2556864" cy="502851"/>
            <a:chOff x="0" y="0"/>
            <a:chExt cx="2066436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66436" cy="406400"/>
            </a:xfrm>
            <a:custGeom>
              <a:avLst/>
              <a:gdLst/>
              <a:ahLst/>
              <a:cxnLst/>
              <a:rect l="l" t="t" r="r" b="b"/>
              <a:pathLst>
                <a:path w="2066436" h="406400">
                  <a:moveTo>
                    <a:pt x="1863236" y="0"/>
                  </a:moveTo>
                  <a:cubicBezTo>
                    <a:pt x="1975460" y="0"/>
                    <a:pt x="2066436" y="90976"/>
                    <a:pt x="2066436" y="203200"/>
                  </a:cubicBezTo>
                  <a:cubicBezTo>
                    <a:pt x="2066436" y="315424"/>
                    <a:pt x="1975460" y="406400"/>
                    <a:pt x="186323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0F042D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066436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31168" y="1796254"/>
            <a:ext cx="7728132" cy="7889185"/>
            <a:chOff x="0" y="0"/>
            <a:chExt cx="2035393" cy="20778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35393" cy="2077810"/>
            </a:xfrm>
            <a:custGeom>
              <a:avLst/>
              <a:gdLst/>
              <a:ahLst/>
              <a:cxnLst/>
              <a:rect l="l" t="t" r="r" b="b"/>
              <a:pathLst>
                <a:path w="2035393" h="2077810">
                  <a:moveTo>
                    <a:pt x="36064" y="0"/>
                  </a:moveTo>
                  <a:lnTo>
                    <a:pt x="1999328" y="0"/>
                  </a:lnTo>
                  <a:cubicBezTo>
                    <a:pt x="2008893" y="0"/>
                    <a:pt x="2018066" y="3800"/>
                    <a:pt x="2024830" y="10563"/>
                  </a:cubicBezTo>
                  <a:cubicBezTo>
                    <a:pt x="2031593" y="17326"/>
                    <a:pt x="2035393" y="26499"/>
                    <a:pt x="2035393" y="36064"/>
                  </a:cubicBezTo>
                  <a:lnTo>
                    <a:pt x="2035393" y="2041746"/>
                  </a:lnTo>
                  <a:cubicBezTo>
                    <a:pt x="2035393" y="2051311"/>
                    <a:pt x="2031593" y="2060484"/>
                    <a:pt x="2024830" y="2067247"/>
                  </a:cubicBezTo>
                  <a:cubicBezTo>
                    <a:pt x="2018066" y="2074011"/>
                    <a:pt x="2008893" y="2077810"/>
                    <a:pt x="1999328" y="2077810"/>
                  </a:cubicBezTo>
                  <a:lnTo>
                    <a:pt x="36064" y="2077810"/>
                  </a:lnTo>
                  <a:cubicBezTo>
                    <a:pt x="26499" y="2077810"/>
                    <a:pt x="17326" y="2074011"/>
                    <a:pt x="10563" y="2067247"/>
                  </a:cubicBezTo>
                  <a:cubicBezTo>
                    <a:pt x="3800" y="2060484"/>
                    <a:pt x="0" y="2051311"/>
                    <a:pt x="0" y="2041746"/>
                  </a:cubicBezTo>
                  <a:lnTo>
                    <a:pt x="0" y="36064"/>
                  </a:lnTo>
                  <a:cubicBezTo>
                    <a:pt x="0" y="26499"/>
                    <a:pt x="3800" y="17326"/>
                    <a:pt x="10563" y="10563"/>
                  </a:cubicBezTo>
                  <a:cubicBezTo>
                    <a:pt x="17326" y="3800"/>
                    <a:pt x="26499" y="0"/>
                    <a:pt x="360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035393" cy="2077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36743" y="1796254"/>
            <a:ext cx="7728132" cy="7889185"/>
            <a:chOff x="0" y="0"/>
            <a:chExt cx="2035393" cy="20778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35393" cy="2077810"/>
            </a:xfrm>
            <a:custGeom>
              <a:avLst/>
              <a:gdLst/>
              <a:ahLst/>
              <a:cxnLst/>
              <a:rect l="l" t="t" r="r" b="b"/>
              <a:pathLst>
                <a:path w="2035393" h="2077810">
                  <a:moveTo>
                    <a:pt x="36064" y="0"/>
                  </a:moveTo>
                  <a:lnTo>
                    <a:pt x="1999328" y="0"/>
                  </a:lnTo>
                  <a:cubicBezTo>
                    <a:pt x="2008893" y="0"/>
                    <a:pt x="2018066" y="3800"/>
                    <a:pt x="2024830" y="10563"/>
                  </a:cubicBezTo>
                  <a:cubicBezTo>
                    <a:pt x="2031593" y="17326"/>
                    <a:pt x="2035393" y="26499"/>
                    <a:pt x="2035393" y="36064"/>
                  </a:cubicBezTo>
                  <a:lnTo>
                    <a:pt x="2035393" y="2041746"/>
                  </a:lnTo>
                  <a:cubicBezTo>
                    <a:pt x="2035393" y="2051311"/>
                    <a:pt x="2031593" y="2060484"/>
                    <a:pt x="2024830" y="2067247"/>
                  </a:cubicBezTo>
                  <a:cubicBezTo>
                    <a:pt x="2018066" y="2074011"/>
                    <a:pt x="2008893" y="2077810"/>
                    <a:pt x="1999328" y="2077810"/>
                  </a:cubicBezTo>
                  <a:lnTo>
                    <a:pt x="36064" y="2077810"/>
                  </a:lnTo>
                  <a:cubicBezTo>
                    <a:pt x="26499" y="2077810"/>
                    <a:pt x="17326" y="2074011"/>
                    <a:pt x="10563" y="2067247"/>
                  </a:cubicBezTo>
                  <a:cubicBezTo>
                    <a:pt x="3800" y="2060484"/>
                    <a:pt x="0" y="2051311"/>
                    <a:pt x="0" y="2041746"/>
                  </a:cubicBezTo>
                  <a:lnTo>
                    <a:pt x="0" y="36064"/>
                  </a:lnTo>
                  <a:cubicBezTo>
                    <a:pt x="0" y="26499"/>
                    <a:pt x="3800" y="17326"/>
                    <a:pt x="10563" y="10563"/>
                  </a:cubicBezTo>
                  <a:cubicBezTo>
                    <a:pt x="17326" y="3800"/>
                    <a:pt x="26499" y="0"/>
                    <a:pt x="36064" y="0"/>
                  </a:cubicBezTo>
                  <a:close/>
                </a:path>
              </a:pathLst>
            </a:custGeom>
            <a:ln w="19050" cap="rnd">
              <a:solidFill>
                <a:srgbClr val="0F042D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2035393" cy="2077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434575" y="2275597"/>
            <a:ext cx="2916382" cy="50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b="1" spc="-167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Problem</a:t>
            </a:r>
          </a:p>
        </p:txBody>
      </p:sp>
      <p:sp>
        <p:nvSpPr>
          <p:cNvPr id="37" name="AutoShape 37"/>
          <p:cNvSpPr/>
          <p:nvPr/>
        </p:nvSpPr>
        <p:spPr>
          <a:xfrm flipV="1">
            <a:off x="3047159" y="2869132"/>
            <a:ext cx="4013712" cy="0"/>
          </a:xfrm>
          <a:prstGeom prst="line">
            <a:avLst/>
          </a:prstGeom>
          <a:ln w="19050" cap="flat">
            <a:solidFill>
              <a:srgbClr val="0F04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TextBox 38"/>
          <p:cNvSpPr txBox="1"/>
          <p:nvPr/>
        </p:nvSpPr>
        <p:spPr>
          <a:xfrm>
            <a:off x="1201505" y="551732"/>
            <a:ext cx="153154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F042D"/>
                </a:solidFill>
                <a:latin typeface="Open Sauce"/>
                <a:ea typeface="Open Sauce"/>
                <a:cs typeface="Open Sauce"/>
                <a:sym typeface="Open Sauce"/>
              </a:rPr>
              <a:t>Problems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60934" y="591102"/>
            <a:ext cx="2679749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  <a:spcBef>
                <a:spcPct val="0"/>
              </a:spcBef>
            </a:pPr>
            <a:r>
              <a:rPr lang="en-US" sz="2238" b="1" spc="-13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SOLUTIONS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6650" y="3088333"/>
            <a:ext cx="7092231" cy="630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30"/>
              </a:lnSpc>
              <a:buFont typeface="Arial"/>
              <a:buChar char="•"/>
            </a:pPr>
            <a:r>
              <a:rPr lang="en-US" sz="3000" b="1">
                <a:solidFill>
                  <a:srgbClr val="0F042D"/>
                </a:solidFill>
                <a:latin typeface="Aileron Bold"/>
                <a:ea typeface="Aileron Bold"/>
                <a:cs typeface="Aileron Bold"/>
                <a:sym typeface="Aileron Bold"/>
              </a:rPr>
              <a:t>VIDEO CONTENT IS OFTEN INACCESSIBLE TO NON-NATIVE SPEAKERS OR HEARING-IMPAIRED VIEWERS.</a:t>
            </a:r>
          </a:p>
          <a:p>
            <a:pPr algn="l">
              <a:lnSpc>
                <a:spcPts val="3330"/>
              </a:lnSpc>
            </a:pPr>
            <a:endParaRPr lang="en-US" sz="3000" b="1">
              <a:solidFill>
                <a:srgbClr val="0F042D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47700" lvl="1" indent="-323850" algn="l">
              <a:lnSpc>
                <a:spcPts val="3330"/>
              </a:lnSpc>
              <a:buFont typeface="Arial"/>
              <a:buChar char="•"/>
            </a:pPr>
            <a:r>
              <a:rPr lang="en-US" sz="3000" b="1">
                <a:solidFill>
                  <a:srgbClr val="0F042D"/>
                </a:solidFill>
                <a:latin typeface="Aileron Bold"/>
                <a:ea typeface="Aileron Bold"/>
                <a:cs typeface="Aileron Bold"/>
                <a:sym typeface="Aileron Bold"/>
              </a:rPr>
              <a:t>EXISTING TOOLS REQUIRE MANUAL SUBTITLE CREATION, EXPENSIVE SOFTWARE, OR ONLINE UPLOADS THAT RAISE PRIVACY CONCERNS.</a:t>
            </a:r>
          </a:p>
          <a:p>
            <a:pPr algn="l">
              <a:lnSpc>
                <a:spcPts val="3330"/>
              </a:lnSpc>
            </a:pPr>
            <a:endParaRPr lang="en-US" sz="3000" b="1">
              <a:solidFill>
                <a:srgbClr val="0F042D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47700" lvl="1" indent="-323850" algn="l">
              <a:lnSpc>
                <a:spcPts val="3330"/>
              </a:lnSpc>
              <a:buFont typeface="Arial"/>
              <a:buChar char="•"/>
            </a:pPr>
            <a:r>
              <a:rPr lang="en-US" sz="3000" b="1">
                <a:solidFill>
                  <a:srgbClr val="0F042D"/>
                </a:solidFill>
                <a:latin typeface="Aileron Bold"/>
                <a:ea typeface="Aileron Bold"/>
                <a:cs typeface="Aileron Bold"/>
                <a:sym typeface="Aileron Bold"/>
              </a:rPr>
              <a:t>NO SIMPLE SOLUTION EXISTS THAT COMBINES TRANSCRIPTION + TRANSLATION + PLAYBACK IN ONE PLACE.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49119" y="3021658"/>
            <a:ext cx="7092231" cy="672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300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TRANSLYTIC IS A FULLY CAPABLE APPLICATION THAT - </a:t>
            </a:r>
          </a:p>
          <a:p>
            <a:pPr algn="l">
              <a:lnSpc>
                <a:spcPts val="3330"/>
              </a:lnSpc>
            </a:pPr>
            <a:endParaRPr lang="en-US" sz="3000" b="1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47700" lvl="1" indent="-323850" algn="l">
              <a:lnSpc>
                <a:spcPts val="333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AUTOMATICALLY EXTRACTS AUDIO AND TRANSCRIBES SPEECH USING OPEN-AI WHISPER.</a:t>
            </a:r>
          </a:p>
          <a:p>
            <a:pPr algn="l">
              <a:lnSpc>
                <a:spcPts val="3330"/>
              </a:lnSpc>
            </a:pPr>
            <a:endParaRPr lang="en-US" sz="3000" b="1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47700" lvl="1" indent="-323850" algn="l">
              <a:lnSpc>
                <a:spcPts val="333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TRANSLATES SUBTITLES INTO 10 LANGUAGES VIA GOOGLE TRANSLATE.</a:t>
            </a:r>
          </a:p>
          <a:p>
            <a:pPr algn="l">
              <a:lnSpc>
                <a:spcPts val="3330"/>
              </a:lnSpc>
            </a:pPr>
            <a:endParaRPr lang="en-US" sz="3000" b="1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47700" lvl="1" indent="-323850" algn="l">
              <a:lnSpc>
                <a:spcPts val="333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PLAYS THE VIDEO WITH LIVE SYNCED CAPTIONS AND AI GENERATED DUBBED AUDIO IN MULTIPLE LANGUAGES</a:t>
            </a:r>
          </a:p>
          <a:p>
            <a:pPr algn="l">
              <a:lnSpc>
                <a:spcPts val="3330"/>
              </a:lnSpc>
            </a:pPr>
            <a:endParaRPr lang="en-US" sz="3000" b="1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42" name="AutoShape 42"/>
          <p:cNvSpPr/>
          <p:nvPr/>
        </p:nvSpPr>
        <p:spPr>
          <a:xfrm flipV="1">
            <a:off x="11388378" y="2859607"/>
            <a:ext cx="401371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11937043" y="2275597"/>
            <a:ext cx="2916382" cy="50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b="1" spc="-167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108806"/>
            <a:ext cx="18288000" cy="7178194"/>
            <a:chOff x="0" y="0"/>
            <a:chExt cx="24384000" cy="957092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307738"/>
              <a:ext cx="3484342" cy="5263187"/>
              <a:chOff x="0" y="0"/>
              <a:chExt cx="804292" cy="121490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04292" cy="1214904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214904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214904"/>
                    </a:lnTo>
                    <a:lnTo>
                      <a:pt x="0" y="1214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0"/>
                <a:ext cx="804292" cy="12149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0899658" y="4307738"/>
              <a:ext cx="3484342" cy="5263187"/>
              <a:chOff x="0" y="0"/>
              <a:chExt cx="804292" cy="121490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04292" cy="1214904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214904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214904"/>
                    </a:lnTo>
                    <a:lnTo>
                      <a:pt x="0" y="1214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804292" cy="12149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84342" y="3112079"/>
              <a:ext cx="3484342" cy="6458846"/>
              <a:chOff x="0" y="0"/>
              <a:chExt cx="804292" cy="149089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04292" cy="1490898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490898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490898"/>
                    </a:lnTo>
                    <a:lnTo>
                      <a:pt x="0" y="149089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804292" cy="14908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7415315" y="3112079"/>
              <a:ext cx="3484342" cy="6458846"/>
              <a:chOff x="0" y="0"/>
              <a:chExt cx="804292" cy="149089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04292" cy="1490898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490898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490898"/>
                    </a:lnTo>
                    <a:lnTo>
                      <a:pt x="0" y="149089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804292" cy="14908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968685" y="1823352"/>
              <a:ext cx="3484342" cy="7747573"/>
              <a:chOff x="0" y="0"/>
              <a:chExt cx="804292" cy="178837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04292" cy="1788376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788376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788376"/>
                    </a:lnTo>
                    <a:lnTo>
                      <a:pt x="0" y="17883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804292" cy="1788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937369" y="1823352"/>
              <a:ext cx="3484342" cy="7747573"/>
              <a:chOff x="0" y="0"/>
              <a:chExt cx="804292" cy="178837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04292" cy="1788376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788376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788376"/>
                    </a:lnTo>
                    <a:lnTo>
                      <a:pt x="0" y="17883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804292" cy="1788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453027" y="0"/>
              <a:ext cx="3484342" cy="9570925"/>
              <a:chOff x="0" y="0"/>
              <a:chExt cx="804292" cy="220926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04292" cy="2209261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2209261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2209261"/>
                    </a:lnTo>
                    <a:lnTo>
                      <a:pt x="0" y="22092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804292" cy="2209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893279" y="2758736"/>
            <a:ext cx="4941681" cy="3350250"/>
            <a:chOff x="0" y="0"/>
            <a:chExt cx="1301513" cy="8823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1513" cy="882370"/>
            </a:xfrm>
            <a:custGeom>
              <a:avLst/>
              <a:gdLst/>
              <a:ahLst/>
              <a:cxnLst/>
              <a:rect l="l" t="t" r="r" b="b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41496" y="950151"/>
            <a:ext cx="7997704" cy="1302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88"/>
              </a:lnSpc>
            </a:pPr>
            <a:r>
              <a:rPr lang="en-US" sz="8800" b="1" spc="-432" dirty="0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Key Features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673160" y="2758736"/>
            <a:ext cx="4941681" cy="3350250"/>
            <a:chOff x="0" y="0"/>
            <a:chExt cx="1301513" cy="8823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01513" cy="882370"/>
            </a:xfrm>
            <a:custGeom>
              <a:avLst/>
              <a:gdLst/>
              <a:ahLst/>
              <a:cxnLst/>
              <a:rect l="l" t="t" r="r" b="b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9268" y="3165956"/>
            <a:ext cx="4008489" cy="994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727" b="1" spc="-167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Synced Captions &amp; Audio</a:t>
            </a:r>
          </a:p>
        </p:txBody>
      </p:sp>
      <p:sp>
        <p:nvSpPr>
          <p:cNvPr id="32" name="AutoShape 32"/>
          <p:cNvSpPr/>
          <p:nvPr/>
        </p:nvSpPr>
        <p:spPr>
          <a:xfrm flipV="1">
            <a:off x="1304410" y="4282520"/>
            <a:ext cx="401371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1276619" y="4492070"/>
            <a:ext cx="417500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</a:pPr>
            <a:r>
              <a:rPr lang="en-US" sz="3000" spc="-96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Real-time subtitles + voice sync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233325" y="1282396"/>
            <a:ext cx="6015428" cy="731097"/>
            <a:chOff x="0" y="0"/>
            <a:chExt cx="8020570" cy="974796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8020570" cy="974796"/>
              <a:chOff x="0" y="0"/>
              <a:chExt cx="3343839" cy="406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34383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343839" h="406400">
                    <a:moveTo>
                      <a:pt x="3140639" y="0"/>
                    </a:moveTo>
                    <a:cubicBezTo>
                      <a:pt x="3252863" y="0"/>
                      <a:pt x="3343839" y="90976"/>
                      <a:pt x="3343839" y="203200"/>
                    </a:cubicBezTo>
                    <a:cubicBezTo>
                      <a:pt x="3343839" y="315424"/>
                      <a:pt x="3252863" y="406400"/>
                      <a:pt x="314063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ln w="19050" cap="sq">
                <a:solidFill>
                  <a:srgbClr val="0F042D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3343839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93992" y="184739"/>
              <a:ext cx="6911024" cy="559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2"/>
                </a:lnSpc>
                <a:spcBef>
                  <a:spcPct val="0"/>
                </a:spcBef>
              </a:pPr>
              <a:r>
                <a:rPr lang="en-US" sz="260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Everything you need in one app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056499" y="3165956"/>
            <a:ext cx="417500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b="1" spc="-167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Auto Transcription</a:t>
            </a:r>
          </a:p>
        </p:txBody>
      </p:sp>
      <p:sp>
        <p:nvSpPr>
          <p:cNvPr id="40" name="AutoShape 40"/>
          <p:cNvSpPr/>
          <p:nvPr/>
        </p:nvSpPr>
        <p:spPr>
          <a:xfrm flipV="1">
            <a:off x="7137144" y="3882470"/>
            <a:ext cx="401371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1"/>
          <p:cNvSpPr txBox="1"/>
          <p:nvPr/>
        </p:nvSpPr>
        <p:spPr>
          <a:xfrm>
            <a:off x="7056499" y="3996770"/>
            <a:ext cx="4175001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</a:pPr>
            <a:r>
              <a:rPr lang="en-US" sz="3000" spc="-96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Speech-to-text powered by OpenAI Whisper (base model)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2451036" y="2758736"/>
            <a:ext cx="4941681" cy="3350250"/>
            <a:chOff x="0" y="0"/>
            <a:chExt cx="1301513" cy="88237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01513" cy="882370"/>
            </a:xfrm>
            <a:custGeom>
              <a:avLst/>
              <a:gdLst/>
              <a:ahLst/>
              <a:cxnLst/>
              <a:rect l="l" t="t" r="r" b="b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696880" y="3165956"/>
            <a:ext cx="4449991" cy="50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b="1" spc="-167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Multiple Languages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12915020" y="3882470"/>
            <a:ext cx="401371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TextBox 47"/>
          <p:cNvSpPr txBox="1"/>
          <p:nvPr/>
        </p:nvSpPr>
        <p:spPr>
          <a:xfrm>
            <a:off x="12834376" y="3996770"/>
            <a:ext cx="4175001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</a:pPr>
            <a:r>
              <a:rPr lang="en-US" sz="3000" spc="-96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Hindi, Marathi, Spanish, French, German, Arabic &amp; more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893279" y="6461411"/>
            <a:ext cx="4941681" cy="3350250"/>
            <a:chOff x="0" y="0"/>
            <a:chExt cx="1301513" cy="88237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01513" cy="882370"/>
            </a:xfrm>
            <a:custGeom>
              <a:avLst/>
              <a:gdLst/>
              <a:ahLst/>
              <a:cxnLst/>
              <a:rect l="l" t="t" r="r" b="b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633850" y="6868631"/>
            <a:ext cx="3314649" cy="994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727" b="1" spc="-167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Full Playback </a:t>
            </a:r>
          </a:p>
          <a:p>
            <a:pPr algn="ctr">
              <a:lnSpc>
                <a:spcPts val="3839"/>
              </a:lnSpc>
            </a:pPr>
            <a:r>
              <a:rPr lang="en-US" sz="3727" b="1" spc="-167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Controls</a:t>
            </a:r>
          </a:p>
        </p:txBody>
      </p:sp>
      <p:sp>
        <p:nvSpPr>
          <p:cNvPr id="52" name="AutoShape 52"/>
          <p:cNvSpPr/>
          <p:nvPr/>
        </p:nvSpPr>
        <p:spPr>
          <a:xfrm flipV="1">
            <a:off x="1139027" y="8063532"/>
            <a:ext cx="41766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TextBox 53"/>
          <p:cNvSpPr txBox="1"/>
          <p:nvPr/>
        </p:nvSpPr>
        <p:spPr>
          <a:xfrm>
            <a:off x="1139027" y="8292132"/>
            <a:ext cx="434447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</a:pPr>
            <a:r>
              <a:rPr lang="en-US" sz="3000" spc="-96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Play, Pause, Stop and a seekbar for navigation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2451036" y="6388407"/>
            <a:ext cx="4941681" cy="3350250"/>
            <a:chOff x="0" y="0"/>
            <a:chExt cx="1301513" cy="88237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301513" cy="882370"/>
            </a:xfrm>
            <a:custGeom>
              <a:avLst/>
              <a:gdLst/>
              <a:ahLst/>
              <a:cxnLst/>
              <a:rect l="l" t="t" r="r" b="b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852746" y="6795627"/>
            <a:ext cx="4048281" cy="50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727" b="1" spc="-167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Export SRT </a:t>
            </a:r>
          </a:p>
        </p:txBody>
      </p:sp>
      <p:sp>
        <p:nvSpPr>
          <p:cNvPr id="58" name="AutoShape 58"/>
          <p:cNvSpPr/>
          <p:nvPr/>
        </p:nvSpPr>
        <p:spPr>
          <a:xfrm flipV="1">
            <a:off x="12915020" y="7512142"/>
            <a:ext cx="401371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" name="TextBox 59"/>
          <p:cNvSpPr txBox="1"/>
          <p:nvPr/>
        </p:nvSpPr>
        <p:spPr>
          <a:xfrm>
            <a:off x="12739469" y="7845517"/>
            <a:ext cx="42699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</a:pPr>
            <a:r>
              <a:rPr lang="en-US" sz="3000" spc="-96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Save subtitle files for use in any video editor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6673160" y="6388407"/>
            <a:ext cx="4941681" cy="3350250"/>
            <a:chOff x="0" y="0"/>
            <a:chExt cx="1301513" cy="88237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301513" cy="882370"/>
            </a:xfrm>
            <a:custGeom>
              <a:avLst/>
              <a:gdLst/>
              <a:ahLst/>
              <a:cxnLst/>
              <a:rect l="l" t="t" r="r" b="b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7137144" y="6795627"/>
            <a:ext cx="3958301" cy="50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b="1" spc="-167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AI Voice Dubbing</a:t>
            </a:r>
          </a:p>
        </p:txBody>
      </p:sp>
      <p:sp>
        <p:nvSpPr>
          <p:cNvPr id="64" name="AutoShape 64"/>
          <p:cNvSpPr/>
          <p:nvPr/>
        </p:nvSpPr>
        <p:spPr>
          <a:xfrm flipV="1">
            <a:off x="7217788" y="7521667"/>
            <a:ext cx="401371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7028794" y="7715250"/>
            <a:ext cx="4175001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</a:pPr>
            <a:r>
              <a:rPr lang="en-US" sz="3000" spc="-96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Generates translated voice using AI ( gTTS + audio sync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148330"/>
            <a:ext cx="18288000" cy="7090845"/>
            <a:chOff x="0" y="0"/>
            <a:chExt cx="24384000" cy="945446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255319"/>
              <a:ext cx="3484342" cy="5199142"/>
              <a:chOff x="0" y="0"/>
              <a:chExt cx="795961" cy="118768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95961" cy="1187688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187688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187688"/>
                    </a:lnTo>
                    <a:lnTo>
                      <a:pt x="0" y="118768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0"/>
                <a:ext cx="795961" cy="1187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0899658" y="4255319"/>
              <a:ext cx="3484342" cy="5199142"/>
              <a:chOff x="0" y="0"/>
              <a:chExt cx="795961" cy="11876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95961" cy="1187688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187688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187688"/>
                    </a:lnTo>
                    <a:lnTo>
                      <a:pt x="0" y="118768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795961" cy="1187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84342" y="3074209"/>
              <a:ext cx="3484342" cy="6380251"/>
              <a:chOff x="0" y="0"/>
              <a:chExt cx="795961" cy="1457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5961" cy="145750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5750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57500"/>
                    </a:lnTo>
                    <a:lnTo>
                      <a:pt x="0" y="14575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795961" cy="1457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7415315" y="3074209"/>
              <a:ext cx="3484342" cy="6380251"/>
              <a:chOff x="0" y="0"/>
              <a:chExt cx="795961" cy="1457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95961" cy="145750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5750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57500"/>
                    </a:lnTo>
                    <a:lnTo>
                      <a:pt x="0" y="14575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795961" cy="1457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968685" y="1801165"/>
              <a:ext cx="3484342" cy="7653296"/>
              <a:chOff x="0" y="0"/>
              <a:chExt cx="795961" cy="174831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95961" cy="174831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4831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48313"/>
                    </a:lnTo>
                    <a:lnTo>
                      <a:pt x="0" y="174831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795961" cy="17483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937369" y="1801165"/>
              <a:ext cx="3484342" cy="7653296"/>
              <a:chOff x="0" y="0"/>
              <a:chExt cx="795961" cy="17483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95961" cy="174831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4831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48313"/>
                    </a:lnTo>
                    <a:lnTo>
                      <a:pt x="0" y="174831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795961" cy="17483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453027" y="0"/>
              <a:ext cx="3484342" cy="9454460"/>
              <a:chOff x="0" y="0"/>
              <a:chExt cx="795961" cy="215977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95961" cy="215977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15977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159770"/>
                    </a:lnTo>
                    <a:lnTo>
                      <a:pt x="0" y="215977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795961" cy="21597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 rot="-10800000">
            <a:off x="14274645" y="4362968"/>
            <a:ext cx="3700827" cy="5700892"/>
            <a:chOff x="0" y="0"/>
            <a:chExt cx="974703" cy="150146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4703" cy="1501469"/>
            </a:xfrm>
            <a:custGeom>
              <a:avLst/>
              <a:gdLst/>
              <a:ahLst/>
              <a:cxnLst/>
              <a:rect l="l" t="t" r="r" b="b"/>
              <a:pathLst>
                <a:path w="974703" h="1501469">
                  <a:moveTo>
                    <a:pt x="75310" y="0"/>
                  </a:moveTo>
                  <a:lnTo>
                    <a:pt x="899394" y="0"/>
                  </a:lnTo>
                  <a:cubicBezTo>
                    <a:pt x="940986" y="0"/>
                    <a:pt x="974703" y="33717"/>
                    <a:pt x="974703" y="75310"/>
                  </a:cubicBezTo>
                  <a:lnTo>
                    <a:pt x="974703" y="1426160"/>
                  </a:lnTo>
                  <a:cubicBezTo>
                    <a:pt x="974703" y="1446133"/>
                    <a:pt x="966769" y="1465288"/>
                    <a:pt x="952646" y="1479412"/>
                  </a:cubicBezTo>
                  <a:cubicBezTo>
                    <a:pt x="938522" y="1493535"/>
                    <a:pt x="919367" y="1501469"/>
                    <a:pt x="899394" y="1501469"/>
                  </a:cubicBezTo>
                  <a:lnTo>
                    <a:pt x="75310" y="1501469"/>
                  </a:lnTo>
                  <a:cubicBezTo>
                    <a:pt x="33717" y="1501469"/>
                    <a:pt x="0" y="1467752"/>
                    <a:pt x="0" y="1426160"/>
                  </a:cubicBezTo>
                  <a:lnTo>
                    <a:pt x="0" y="75310"/>
                  </a:lnTo>
                  <a:cubicBezTo>
                    <a:pt x="0" y="55337"/>
                    <a:pt x="7934" y="36181"/>
                    <a:pt x="22058" y="22058"/>
                  </a:cubicBezTo>
                  <a:cubicBezTo>
                    <a:pt x="36181" y="7934"/>
                    <a:pt x="55337" y="0"/>
                    <a:pt x="753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74703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10800000">
            <a:off x="9675481" y="4004436"/>
            <a:ext cx="3605669" cy="5700892"/>
            <a:chOff x="0" y="0"/>
            <a:chExt cx="949641" cy="15014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49641" cy="1501469"/>
            </a:xfrm>
            <a:custGeom>
              <a:avLst/>
              <a:gdLst/>
              <a:ahLst/>
              <a:cxnLst/>
              <a:rect l="l" t="t" r="r" b="b"/>
              <a:pathLst>
                <a:path w="949641" h="1501469">
                  <a:moveTo>
                    <a:pt x="77297" y="0"/>
                  </a:moveTo>
                  <a:lnTo>
                    <a:pt x="872344" y="0"/>
                  </a:lnTo>
                  <a:cubicBezTo>
                    <a:pt x="915034" y="0"/>
                    <a:pt x="949641" y="34607"/>
                    <a:pt x="949641" y="77297"/>
                  </a:cubicBezTo>
                  <a:lnTo>
                    <a:pt x="949641" y="1424172"/>
                  </a:lnTo>
                  <a:cubicBezTo>
                    <a:pt x="949641" y="1444673"/>
                    <a:pt x="941498" y="1464333"/>
                    <a:pt x="927001" y="1478830"/>
                  </a:cubicBezTo>
                  <a:cubicBezTo>
                    <a:pt x="912505" y="1493326"/>
                    <a:pt x="892844" y="1501469"/>
                    <a:pt x="872344" y="1501469"/>
                  </a:cubicBezTo>
                  <a:lnTo>
                    <a:pt x="77297" y="1501469"/>
                  </a:lnTo>
                  <a:cubicBezTo>
                    <a:pt x="56797" y="1501469"/>
                    <a:pt x="37136" y="1493326"/>
                    <a:pt x="22640" y="1478830"/>
                  </a:cubicBezTo>
                  <a:cubicBezTo>
                    <a:pt x="8144" y="1464333"/>
                    <a:pt x="0" y="1444673"/>
                    <a:pt x="0" y="1424172"/>
                  </a:cubicBezTo>
                  <a:lnTo>
                    <a:pt x="0" y="77297"/>
                  </a:lnTo>
                  <a:cubicBezTo>
                    <a:pt x="0" y="56797"/>
                    <a:pt x="8144" y="37136"/>
                    <a:pt x="22640" y="22640"/>
                  </a:cubicBezTo>
                  <a:cubicBezTo>
                    <a:pt x="37136" y="8144"/>
                    <a:pt x="56797" y="0"/>
                    <a:pt x="7729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7D7D7D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949641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10800000">
            <a:off x="5240528" y="3704647"/>
            <a:ext cx="3700827" cy="5700892"/>
            <a:chOff x="0" y="0"/>
            <a:chExt cx="974703" cy="150146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74703" cy="1501469"/>
            </a:xfrm>
            <a:custGeom>
              <a:avLst/>
              <a:gdLst/>
              <a:ahLst/>
              <a:cxnLst/>
              <a:rect l="l" t="t" r="r" b="b"/>
              <a:pathLst>
                <a:path w="974703" h="1501469">
                  <a:moveTo>
                    <a:pt x="75310" y="0"/>
                  </a:moveTo>
                  <a:lnTo>
                    <a:pt x="899394" y="0"/>
                  </a:lnTo>
                  <a:cubicBezTo>
                    <a:pt x="940986" y="0"/>
                    <a:pt x="974703" y="33717"/>
                    <a:pt x="974703" y="75310"/>
                  </a:cubicBezTo>
                  <a:lnTo>
                    <a:pt x="974703" y="1426160"/>
                  </a:lnTo>
                  <a:cubicBezTo>
                    <a:pt x="974703" y="1446133"/>
                    <a:pt x="966769" y="1465288"/>
                    <a:pt x="952646" y="1479412"/>
                  </a:cubicBezTo>
                  <a:cubicBezTo>
                    <a:pt x="938522" y="1493535"/>
                    <a:pt x="919367" y="1501469"/>
                    <a:pt x="899394" y="1501469"/>
                  </a:cubicBezTo>
                  <a:lnTo>
                    <a:pt x="75310" y="1501469"/>
                  </a:lnTo>
                  <a:cubicBezTo>
                    <a:pt x="33717" y="1501469"/>
                    <a:pt x="0" y="1467752"/>
                    <a:pt x="0" y="1426160"/>
                  </a:cubicBezTo>
                  <a:lnTo>
                    <a:pt x="0" y="75310"/>
                  </a:lnTo>
                  <a:cubicBezTo>
                    <a:pt x="0" y="55337"/>
                    <a:pt x="7934" y="36181"/>
                    <a:pt x="22058" y="22058"/>
                  </a:cubicBezTo>
                  <a:cubicBezTo>
                    <a:pt x="36181" y="7934"/>
                    <a:pt x="55337" y="0"/>
                    <a:pt x="753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74703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-10800000">
            <a:off x="624824" y="3282257"/>
            <a:ext cx="3605669" cy="5700892"/>
            <a:chOff x="0" y="0"/>
            <a:chExt cx="949641" cy="150146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49641" cy="1501469"/>
            </a:xfrm>
            <a:custGeom>
              <a:avLst/>
              <a:gdLst/>
              <a:ahLst/>
              <a:cxnLst/>
              <a:rect l="l" t="t" r="r" b="b"/>
              <a:pathLst>
                <a:path w="949641" h="1501469">
                  <a:moveTo>
                    <a:pt x="77297" y="0"/>
                  </a:moveTo>
                  <a:lnTo>
                    <a:pt x="872344" y="0"/>
                  </a:lnTo>
                  <a:cubicBezTo>
                    <a:pt x="915034" y="0"/>
                    <a:pt x="949641" y="34607"/>
                    <a:pt x="949641" y="77297"/>
                  </a:cubicBezTo>
                  <a:lnTo>
                    <a:pt x="949641" y="1424172"/>
                  </a:lnTo>
                  <a:cubicBezTo>
                    <a:pt x="949641" y="1444673"/>
                    <a:pt x="941498" y="1464333"/>
                    <a:pt x="927001" y="1478830"/>
                  </a:cubicBezTo>
                  <a:cubicBezTo>
                    <a:pt x="912505" y="1493326"/>
                    <a:pt x="892844" y="1501469"/>
                    <a:pt x="872344" y="1501469"/>
                  </a:cubicBezTo>
                  <a:lnTo>
                    <a:pt x="77297" y="1501469"/>
                  </a:lnTo>
                  <a:cubicBezTo>
                    <a:pt x="56797" y="1501469"/>
                    <a:pt x="37136" y="1493326"/>
                    <a:pt x="22640" y="1478830"/>
                  </a:cubicBezTo>
                  <a:cubicBezTo>
                    <a:pt x="8144" y="1464333"/>
                    <a:pt x="0" y="1444673"/>
                    <a:pt x="0" y="1424172"/>
                  </a:cubicBezTo>
                  <a:lnTo>
                    <a:pt x="0" y="77297"/>
                  </a:lnTo>
                  <a:cubicBezTo>
                    <a:pt x="0" y="56797"/>
                    <a:pt x="8144" y="37136"/>
                    <a:pt x="22640" y="22640"/>
                  </a:cubicBezTo>
                  <a:cubicBezTo>
                    <a:pt x="37136" y="8144"/>
                    <a:pt x="56797" y="0"/>
                    <a:pt x="7729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7D7D7D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49641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74433" y="3456662"/>
            <a:ext cx="3665691" cy="5700892"/>
            <a:chOff x="0" y="0"/>
            <a:chExt cx="965449" cy="150146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65449" cy="1501469"/>
            </a:xfrm>
            <a:custGeom>
              <a:avLst/>
              <a:gdLst/>
              <a:ahLst/>
              <a:cxnLst/>
              <a:rect l="l" t="t" r="r" b="b"/>
              <a:pathLst>
                <a:path w="965449" h="1501469">
                  <a:moveTo>
                    <a:pt x="76032" y="0"/>
                  </a:moveTo>
                  <a:lnTo>
                    <a:pt x="889418" y="0"/>
                  </a:lnTo>
                  <a:cubicBezTo>
                    <a:pt x="931409" y="0"/>
                    <a:pt x="965449" y="34041"/>
                    <a:pt x="965449" y="76032"/>
                  </a:cubicBezTo>
                  <a:lnTo>
                    <a:pt x="965449" y="1425438"/>
                  </a:lnTo>
                  <a:cubicBezTo>
                    <a:pt x="965449" y="1467429"/>
                    <a:pt x="931409" y="1501469"/>
                    <a:pt x="889418" y="1501469"/>
                  </a:cubicBezTo>
                  <a:lnTo>
                    <a:pt x="76032" y="1501469"/>
                  </a:lnTo>
                  <a:cubicBezTo>
                    <a:pt x="34041" y="1501469"/>
                    <a:pt x="0" y="1467429"/>
                    <a:pt x="0" y="1425438"/>
                  </a:cubicBezTo>
                  <a:lnTo>
                    <a:pt x="0" y="76032"/>
                  </a:lnTo>
                  <a:cubicBezTo>
                    <a:pt x="0" y="34041"/>
                    <a:pt x="34041" y="0"/>
                    <a:pt x="760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965449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142227" y="4279138"/>
            <a:ext cx="3665691" cy="5700892"/>
            <a:chOff x="0" y="0"/>
            <a:chExt cx="965449" cy="150146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65449" cy="1501469"/>
            </a:xfrm>
            <a:custGeom>
              <a:avLst/>
              <a:gdLst/>
              <a:ahLst/>
              <a:cxnLst/>
              <a:rect l="l" t="t" r="r" b="b"/>
              <a:pathLst>
                <a:path w="965449" h="1501469">
                  <a:moveTo>
                    <a:pt x="76032" y="0"/>
                  </a:moveTo>
                  <a:lnTo>
                    <a:pt x="889418" y="0"/>
                  </a:lnTo>
                  <a:cubicBezTo>
                    <a:pt x="931409" y="0"/>
                    <a:pt x="965449" y="34041"/>
                    <a:pt x="965449" y="76032"/>
                  </a:cubicBezTo>
                  <a:lnTo>
                    <a:pt x="965449" y="1425438"/>
                  </a:lnTo>
                  <a:cubicBezTo>
                    <a:pt x="965449" y="1467429"/>
                    <a:pt x="931409" y="1501469"/>
                    <a:pt x="889418" y="1501469"/>
                  </a:cubicBezTo>
                  <a:lnTo>
                    <a:pt x="76032" y="1501469"/>
                  </a:lnTo>
                  <a:cubicBezTo>
                    <a:pt x="34041" y="1501469"/>
                    <a:pt x="0" y="1467429"/>
                    <a:pt x="0" y="1425438"/>
                  </a:cubicBezTo>
                  <a:lnTo>
                    <a:pt x="0" y="76032"/>
                  </a:lnTo>
                  <a:cubicBezTo>
                    <a:pt x="0" y="34041"/>
                    <a:pt x="34041" y="0"/>
                    <a:pt x="760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65449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4049519" y="5603763"/>
            <a:ext cx="1018055" cy="288757"/>
          </a:xfrm>
          <a:custGeom>
            <a:avLst/>
            <a:gdLst/>
            <a:ahLst/>
            <a:cxnLst/>
            <a:rect l="l" t="t" r="r" b="b"/>
            <a:pathLst>
              <a:path w="1018055" h="288757">
                <a:moveTo>
                  <a:pt x="0" y="0"/>
                </a:moveTo>
                <a:lnTo>
                  <a:pt x="1018055" y="0"/>
                </a:lnTo>
                <a:lnTo>
                  <a:pt x="1018055" y="288757"/>
                </a:lnTo>
                <a:lnTo>
                  <a:pt x="0" y="288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6060968" y="3751482"/>
            <a:ext cx="1692621" cy="1222972"/>
            <a:chOff x="0" y="0"/>
            <a:chExt cx="936328" cy="67652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36328" cy="676526"/>
            </a:xfrm>
            <a:custGeom>
              <a:avLst/>
              <a:gdLst/>
              <a:ahLst/>
              <a:cxnLst/>
              <a:rect l="l" t="t" r="r" b="b"/>
              <a:pathLst>
                <a:path w="936328" h="676526">
                  <a:moveTo>
                    <a:pt x="164661" y="0"/>
                  </a:moveTo>
                  <a:lnTo>
                    <a:pt x="771667" y="0"/>
                  </a:lnTo>
                  <a:cubicBezTo>
                    <a:pt x="862606" y="0"/>
                    <a:pt x="936328" y="73721"/>
                    <a:pt x="936328" y="164661"/>
                  </a:cubicBezTo>
                  <a:lnTo>
                    <a:pt x="936328" y="511865"/>
                  </a:lnTo>
                  <a:cubicBezTo>
                    <a:pt x="936328" y="602805"/>
                    <a:pt x="862606" y="676526"/>
                    <a:pt x="771667" y="676526"/>
                  </a:cubicBezTo>
                  <a:lnTo>
                    <a:pt x="164661" y="676526"/>
                  </a:lnTo>
                  <a:cubicBezTo>
                    <a:pt x="73721" y="676526"/>
                    <a:pt x="0" y="602805"/>
                    <a:pt x="0" y="511865"/>
                  </a:cubicBezTo>
                  <a:lnTo>
                    <a:pt x="0" y="164661"/>
                  </a:lnTo>
                  <a:cubicBezTo>
                    <a:pt x="0" y="73721"/>
                    <a:pt x="73721" y="0"/>
                    <a:pt x="164661" y="0"/>
                  </a:cubicBezTo>
                  <a:close/>
                </a:path>
              </a:pathLst>
            </a:custGeom>
            <a:blipFill>
              <a:blip r:embed="rId4"/>
              <a:stretch>
                <a:fillRect t="-8128" b="-8128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9541430" y="3857232"/>
            <a:ext cx="3645458" cy="5700892"/>
            <a:chOff x="0" y="0"/>
            <a:chExt cx="960121" cy="150146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60121" cy="1501469"/>
            </a:xfrm>
            <a:custGeom>
              <a:avLst/>
              <a:gdLst/>
              <a:ahLst/>
              <a:cxnLst/>
              <a:rect l="l" t="t" r="r" b="b"/>
              <a:pathLst>
                <a:path w="960121" h="1501469">
                  <a:moveTo>
                    <a:pt x="76454" y="0"/>
                  </a:moveTo>
                  <a:lnTo>
                    <a:pt x="883667" y="0"/>
                  </a:lnTo>
                  <a:cubicBezTo>
                    <a:pt x="925891" y="0"/>
                    <a:pt x="960121" y="34230"/>
                    <a:pt x="960121" y="76454"/>
                  </a:cubicBezTo>
                  <a:lnTo>
                    <a:pt x="960121" y="1425016"/>
                  </a:lnTo>
                  <a:cubicBezTo>
                    <a:pt x="960121" y="1467240"/>
                    <a:pt x="925891" y="1501469"/>
                    <a:pt x="883667" y="1501469"/>
                  </a:cubicBezTo>
                  <a:lnTo>
                    <a:pt x="76454" y="1501469"/>
                  </a:lnTo>
                  <a:cubicBezTo>
                    <a:pt x="34230" y="1501469"/>
                    <a:pt x="0" y="1467240"/>
                    <a:pt x="0" y="1425016"/>
                  </a:cubicBezTo>
                  <a:lnTo>
                    <a:pt x="0" y="76454"/>
                  </a:lnTo>
                  <a:cubicBezTo>
                    <a:pt x="0" y="34230"/>
                    <a:pt x="34230" y="0"/>
                    <a:pt x="76454" y="0"/>
                  </a:cubicBezTo>
                  <a:close/>
                </a:path>
              </a:pathLst>
            </a:custGeom>
            <a:solidFill>
              <a:srgbClr val="292929">
                <a:alpha val="44706"/>
              </a:srgbClr>
            </a:solidFill>
            <a:ln w="38100" cap="rnd">
              <a:solidFill>
                <a:srgbClr val="FFFFFF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960121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65554" y="3148330"/>
            <a:ext cx="3583964" cy="5700892"/>
            <a:chOff x="0" y="0"/>
            <a:chExt cx="943925" cy="150146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43925" cy="1501469"/>
            </a:xfrm>
            <a:custGeom>
              <a:avLst/>
              <a:gdLst/>
              <a:ahLst/>
              <a:cxnLst/>
              <a:rect l="l" t="t" r="r" b="b"/>
              <a:pathLst>
                <a:path w="943925" h="1501469">
                  <a:moveTo>
                    <a:pt x="77766" y="0"/>
                  </a:moveTo>
                  <a:lnTo>
                    <a:pt x="866159" y="0"/>
                  </a:lnTo>
                  <a:cubicBezTo>
                    <a:pt x="886784" y="0"/>
                    <a:pt x="906564" y="8193"/>
                    <a:pt x="921148" y="22777"/>
                  </a:cubicBezTo>
                  <a:cubicBezTo>
                    <a:pt x="935732" y="37361"/>
                    <a:pt x="943925" y="57141"/>
                    <a:pt x="943925" y="77766"/>
                  </a:cubicBezTo>
                  <a:lnTo>
                    <a:pt x="943925" y="1423704"/>
                  </a:lnTo>
                  <a:cubicBezTo>
                    <a:pt x="943925" y="1466653"/>
                    <a:pt x="909108" y="1501469"/>
                    <a:pt x="866159" y="1501469"/>
                  </a:cubicBezTo>
                  <a:lnTo>
                    <a:pt x="77766" y="1501469"/>
                  </a:lnTo>
                  <a:cubicBezTo>
                    <a:pt x="34817" y="1501469"/>
                    <a:pt x="0" y="1466653"/>
                    <a:pt x="0" y="1423704"/>
                  </a:cubicBezTo>
                  <a:lnTo>
                    <a:pt x="0" y="77766"/>
                  </a:lnTo>
                  <a:cubicBezTo>
                    <a:pt x="0" y="34817"/>
                    <a:pt x="34817" y="0"/>
                    <a:pt x="77766" y="0"/>
                  </a:cubicBezTo>
                  <a:close/>
                </a:path>
              </a:pathLst>
            </a:custGeom>
            <a:solidFill>
              <a:srgbClr val="292929">
                <a:alpha val="44706"/>
              </a:srgbClr>
            </a:solidFill>
            <a:ln w="38100" cap="rnd">
              <a:solidFill>
                <a:srgbClr val="FFFFFF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43925" cy="153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8740124" y="6482314"/>
            <a:ext cx="925832" cy="262600"/>
          </a:xfrm>
          <a:custGeom>
            <a:avLst/>
            <a:gdLst/>
            <a:ahLst/>
            <a:cxnLst/>
            <a:rect l="l" t="t" r="r" b="b"/>
            <a:pathLst>
              <a:path w="925832" h="262600">
                <a:moveTo>
                  <a:pt x="0" y="0"/>
                </a:moveTo>
                <a:lnTo>
                  <a:pt x="925832" y="0"/>
                </a:lnTo>
                <a:lnTo>
                  <a:pt x="925832" y="262600"/>
                </a:lnTo>
                <a:lnTo>
                  <a:pt x="0" y="262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603454" y="3374138"/>
            <a:ext cx="1308166" cy="1260596"/>
          </a:xfrm>
          <a:custGeom>
            <a:avLst/>
            <a:gdLst/>
            <a:ahLst/>
            <a:cxnLst/>
            <a:rect l="l" t="t" r="r" b="b"/>
            <a:pathLst>
              <a:path w="1308166" h="1260596">
                <a:moveTo>
                  <a:pt x="0" y="0"/>
                </a:moveTo>
                <a:lnTo>
                  <a:pt x="1308165" y="0"/>
                </a:lnTo>
                <a:lnTo>
                  <a:pt x="1308165" y="1260596"/>
                </a:lnTo>
                <a:lnTo>
                  <a:pt x="0" y="1260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5414246" y="4596062"/>
            <a:ext cx="1042739" cy="1042739"/>
          </a:xfrm>
          <a:custGeom>
            <a:avLst/>
            <a:gdLst/>
            <a:ahLst/>
            <a:cxnLst/>
            <a:rect l="l" t="t" r="r" b="b"/>
            <a:pathLst>
              <a:path w="1042739" h="1042739">
                <a:moveTo>
                  <a:pt x="0" y="0"/>
                </a:moveTo>
                <a:lnTo>
                  <a:pt x="1042738" y="0"/>
                </a:lnTo>
                <a:lnTo>
                  <a:pt x="1042738" y="1042739"/>
                </a:lnTo>
                <a:lnTo>
                  <a:pt x="0" y="104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666388" y="4084099"/>
            <a:ext cx="1395541" cy="1395541"/>
          </a:xfrm>
          <a:custGeom>
            <a:avLst/>
            <a:gdLst/>
            <a:ahLst/>
            <a:cxnLst/>
            <a:rect l="l" t="t" r="r" b="b"/>
            <a:pathLst>
              <a:path w="1395541" h="1395541">
                <a:moveTo>
                  <a:pt x="0" y="0"/>
                </a:moveTo>
                <a:lnTo>
                  <a:pt x="1395541" y="0"/>
                </a:lnTo>
                <a:lnTo>
                  <a:pt x="1395541" y="1395541"/>
                </a:lnTo>
                <a:lnTo>
                  <a:pt x="0" y="1395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028700" y="736237"/>
            <a:ext cx="16230600" cy="117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sz="9600" b="1" spc="-432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How it Works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923471" y="1983305"/>
            <a:ext cx="12441059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50"/>
              </a:lnSpc>
            </a:pPr>
            <a:r>
              <a:rPr lang="en-US" sz="3500" u="none" strike="noStrike" spc="-112">
                <a:solidFill>
                  <a:srgbClr val="B8B8B8"/>
                </a:solidFill>
                <a:latin typeface="Aileron Light"/>
                <a:ea typeface="Aileron Light"/>
                <a:cs typeface="Aileron Light"/>
                <a:sym typeface="Aileron Light"/>
              </a:rPr>
              <a:t> 4 Step Automted pipeline triggered by a single button click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84859" y="4935336"/>
            <a:ext cx="2745356" cy="46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75"/>
              </a:lnSpc>
              <a:spcBef>
                <a:spcPct val="0"/>
              </a:spcBef>
            </a:pPr>
            <a:r>
              <a:rPr lang="en-US" sz="3063" b="1" spc="-27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Extract Audio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8917" y="5485759"/>
            <a:ext cx="2745356" cy="40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5"/>
              </a:lnSpc>
              <a:spcBef>
                <a:spcPct val="0"/>
              </a:spcBef>
            </a:pPr>
            <a:r>
              <a:rPr lang="en-US" sz="2323" i="1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FFmpeg + MoviePy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89545" y="6075553"/>
            <a:ext cx="3198049" cy="243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The app strips the audio track from the selected video file and saves it as a temporary WAV file for processing.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253525" y="5158132"/>
            <a:ext cx="3247334" cy="88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434"/>
              </a:lnSpc>
              <a:spcBef>
                <a:spcPct val="0"/>
              </a:spcBef>
            </a:pPr>
            <a:r>
              <a:rPr lang="en-US" sz="2862" b="1" spc="-25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Transcribe Speech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4943" y="6085078"/>
            <a:ext cx="2484671" cy="40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5"/>
              </a:lnSpc>
              <a:spcBef>
                <a:spcPct val="0"/>
              </a:spcBef>
            </a:pPr>
            <a:r>
              <a:rPr lang="en-US" sz="2323" i="1">
                <a:solidFill>
                  <a:srgbClr val="EDEDE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OpenAI Whisper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243227" y="6735389"/>
            <a:ext cx="3328104" cy="198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Whisper AI to convert speech into text. It also gives timestamps, which helps us sync captions perfectly with the video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779555" y="5668683"/>
            <a:ext cx="318651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435"/>
              </a:lnSpc>
              <a:spcBef>
                <a:spcPct val="0"/>
              </a:spcBef>
            </a:pPr>
            <a:r>
              <a:rPr lang="en-US" sz="2863" b="1" spc="-25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Translate Text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044917" y="6278934"/>
            <a:ext cx="2638484" cy="40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85"/>
              </a:lnSpc>
              <a:spcBef>
                <a:spcPct val="0"/>
              </a:spcBef>
            </a:pPr>
            <a:r>
              <a:rPr lang="en-US" sz="2323" i="1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Google translate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806148" y="6797732"/>
            <a:ext cx="3133328" cy="252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1"/>
              </a:lnSpc>
              <a:spcBef>
                <a:spcPct val="0"/>
              </a:spcBef>
            </a:pPr>
            <a:r>
              <a:rPr lang="en-US" sz="22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Each caption segment is then translated into the selected language while preserving timing for synchronization</a:t>
            </a:r>
          </a:p>
        </p:txBody>
      </p:sp>
      <p:sp>
        <p:nvSpPr>
          <p:cNvPr id="66" name="Freeform 66"/>
          <p:cNvSpPr/>
          <p:nvPr/>
        </p:nvSpPr>
        <p:spPr>
          <a:xfrm>
            <a:off x="13186888" y="7499584"/>
            <a:ext cx="925832" cy="262600"/>
          </a:xfrm>
          <a:custGeom>
            <a:avLst/>
            <a:gdLst/>
            <a:ahLst/>
            <a:cxnLst/>
            <a:rect l="l" t="t" r="r" b="b"/>
            <a:pathLst>
              <a:path w="925832" h="262600">
                <a:moveTo>
                  <a:pt x="0" y="0"/>
                </a:moveTo>
                <a:lnTo>
                  <a:pt x="925832" y="0"/>
                </a:lnTo>
                <a:lnTo>
                  <a:pt x="925832" y="262600"/>
                </a:lnTo>
                <a:lnTo>
                  <a:pt x="0" y="262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14351405" y="5871403"/>
            <a:ext cx="3247334" cy="88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862" b="1" spc="-25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Generate Voice </a:t>
            </a:r>
          </a:p>
          <a:p>
            <a:pPr marL="0" lvl="1" indent="0" algn="ctr">
              <a:lnSpc>
                <a:spcPts val="3434"/>
              </a:lnSpc>
              <a:spcBef>
                <a:spcPct val="0"/>
              </a:spcBef>
            </a:pPr>
            <a:r>
              <a:rPr lang="en-US" sz="2862" b="1" spc="-25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 Play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620407" y="6911651"/>
            <a:ext cx="2709330" cy="76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88"/>
              </a:lnSpc>
              <a:spcBef>
                <a:spcPct val="0"/>
              </a:spcBef>
            </a:pPr>
            <a:r>
              <a:rPr lang="en-US" sz="2125" i="1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gTTS + Pygame + OpenCV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281276" y="7895534"/>
            <a:ext cx="3328104" cy="158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Creates AI-generated voice from translated text and plays it with synced captions.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7060052"/>
            <a:chOff x="0" y="0"/>
            <a:chExt cx="24384000" cy="941340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236839"/>
              <a:ext cx="3484342" cy="5176563"/>
              <a:chOff x="0" y="0"/>
              <a:chExt cx="795961" cy="11825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95961" cy="118253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18253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182530"/>
                    </a:lnTo>
                    <a:lnTo>
                      <a:pt x="0" y="11825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0"/>
                <a:ext cx="795961" cy="11825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0899658" y="4236839"/>
              <a:ext cx="3484342" cy="5176563"/>
              <a:chOff x="0" y="0"/>
              <a:chExt cx="795961" cy="11825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95961" cy="118253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18253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182530"/>
                    </a:lnTo>
                    <a:lnTo>
                      <a:pt x="0" y="11825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795961" cy="11825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84342" y="3060859"/>
              <a:ext cx="3484342" cy="6352544"/>
              <a:chOff x="0" y="0"/>
              <a:chExt cx="795961" cy="145117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5961" cy="145117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5117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51171"/>
                    </a:lnTo>
                    <a:lnTo>
                      <a:pt x="0" y="145117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795961" cy="14511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7415315" y="3060859"/>
              <a:ext cx="3484342" cy="6352544"/>
              <a:chOff x="0" y="0"/>
              <a:chExt cx="795961" cy="145117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95961" cy="145117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5117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51171"/>
                    </a:lnTo>
                    <a:lnTo>
                      <a:pt x="0" y="145117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795961" cy="14511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968685" y="1793343"/>
              <a:ext cx="3484342" cy="7620060"/>
              <a:chOff x="0" y="0"/>
              <a:chExt cx="795961" cy="174072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95961" cy="174072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4072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40721"/>
                    </a:lnTo>
                    <a:lnTo>
                      <a:pt x="0" y="174072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795961" cy="1740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937369" y="1793343"/>
              <a:ext cx="3484342" cy="7620060"/>
              <a:chOff x="0" y="0"/>
              <a:chExt cx="795961" cy="174072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95961" cy="174072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4072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40721"/>
                    </a:lnTo>
                    <a:lnTo>
                      <a:pt x="0" y="174072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795961" cy="1740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453027" y="0"/>
              <a:ext cx="3484342" cy="9413402"/>
              <a:chOff x="0" y="0"/>
              <a:chExt cx="795961" cy="215039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95961" cy="215039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15039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150391"/>
                    </a:lnTo>
                    <a:lnTo>
                      <a:pt x="0" y="215039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795961" cy="2150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46600" y="3116134"/>
            <a:ext cx="18241400" cy="7178194"/>
            <a:chOff x="0" y="0"/>
            <a:chExt cx="24321867" cy="9570925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4307738"/>
              <a:ext cx="3475464" cy="5263187"/>
              <a:chOff x="0" y="0"/>
              <a:chExt cx="802243" cy="121490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02243" cy="1214904"/>
              </a:xfrm>
              <a:custGeom>
                <a:avLst/>
                <a:gdLst/>
                <a:ahLst/>
                <a:cxnLst/>
                <a:rect l="l" t="t" r="r" b="b"/>
                <a:pathLst>
                  <a:path w="802243" h="1214904">
                    <a:moveTo>
                      <a:pt x="0" y="0"/>
                    </a:moveTo>
                    <a:lnTo>
                      <a:pt x="802243" y="0"/>
                    </a:lnTo>
                    <a:lnTo>
                      <a:pt x="802243" y="1214904"/>
                    </a:lnTo>
                    <a:lnTo>
                      <a:pt x="0" y="1214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0"/>
                <a:ext cx="802243" cy="12149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0846403" y="4307738"/>
              <a:ext cx="3475464" cy="5263187"/>
              <a:chOff x="0" y="0"/>
              <a:chExt cx="802243" cy="121490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02243" cy="1214904"/>
              </a:xfrm>
              <a:custGeom>
                <a:avLst/>
                <a:gdLst/>
                <a:ahLst/>
                <a:cxnLst/>
                <a:rect l="l" t="t" r="r" b="b"/>
                <a:pathLst>
                  <a:path w="802243" h="1214904">
                    <a:moveTo>
                      <a:pt x="0" y="0"/>
                    </a:moveTo>
                    <a:lnTo>
                      <a:pt x="802243" y="0"/>
                    </a:lnTo>
                    <a:lnTo>
                      <a:pt x="802243" y="1214904"/>
                    </a:lnTo>
                    <a:lnTo>
                      <a:pt x="0" y="1214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0"/>
                <a:ext cx="802243" cy="12149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475464" y="3112079"/>
              <a:ext cx="3475464" cy="6458846"/>
              <a:chOff x="0" y="0"/>
              <a:chExt cx="802243" cy="149089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02243" cy="1490898"/>
              </a:xfrm>
              <a:custGeom>
                <a:avLst/>
                <a:gdLst/>
                <a:ahLst/>
                <a:cxnLst/>
                <a:rect l="l" t="t" r="r" b="b"/>
                <a:pathLst>
                  <a:path w="802243" h="1490898">
                    <a:moveTo>
                      <a:pt x="0" y="0"/>
                    </a:moveTo>
                    <a:lnTo>
                      <a:pt x="802243" y="0"/>
                    </a:lnTo>
                    <a:lnTo>
                      <a:pt x="802243" y="1490898"/>
                    </a:lnTo>
                    <a:lnTo>
                      <a:pt x="0" y="149089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0"/>
                <a:ext cx="802243" cy="14908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7370939" y="3112079"/>
              <a:ext cx="3475464" cy="6458846"/>
              <a:chOff x="0" y="0"/>
              <a:chExt cx="802243" cy="149089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02243" cy="1490898"/>
              </a:xfrm>
              <a:custGeom>
                <a:avLst/>
                <a:gdLst/>
                <a:ahLst/>
                <a:cxnLst/>
                <a:rect l="l" t="t" r="r" b="b"/>
                <a:pathLst>
                  <a:path w="802243" h="1490898">
                    <a:moveTo>
                      <a:pt x="0" y="0"/>
                    </a:moveTo>
                    <a:lnTo>
                      <a:pt x="802243" y="0"/>
                    </a:lnTo>
                    <a:lnTo>
                      <a:pt x="802243" y="1490898"/>
                    </a:lnTo>
                    <a:lnTo>
                      <a:pt x="0" y="149089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0"/>
                <a:ext cx="802243" cy="14908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950928" y="1823352"/>
              <a:ext cx="3475464" cy="7747573"/>
              <a:chOff x="0" y="0"/>
              <a:chExt cx="802243" cy="178837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02243" cy="1788376"/>
              </a:xfrm>
              <a:custGeom>
                <a:avLst/>
                <a:gdLst/>
                <a:ahLst/>
                <a:cxnLst/>
                <a:rect l="l" t="t" r="r" b="b"/>
                <a:pathLst>
                  <a:path w="802243" h="1788376">
                    <a:moveTo>
                      <a:pt x="0" y="0"/>
                    </a:moveTo>
                    <a:lnTo>
                      <a:pt x="802243" y="0"/>
                    </a:lnTo>
                    <a:lnTo>
                      <a:pt x="802243" y="1788376"/>
                    </a:lnTo>
                    <a:lnTo>
                      <a:pt x="0" y="17883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0"/>
                <a:ext cx="802243" cy="1788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3901855" y="1823352"/>
              <a:ext cx="3475464" cy="7747573"/>
              <a:chOff x="0" y="0"/>
              <a:chExt cx="802243" cy="178837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02243" cy="1788376"/>
              </a:xfrm>
              <a:custGeom>
                <a:avLst/>
                <a:gdLst/>
                <a:ahLst/>
                <a:cxnLst/>
                <a:rect l="l" t="t" r="r" b="b"/>
                <a:pathLst>
                  <a:path w="802243" h="1788376">
                    <a:moveTo>
                      <a:pt x="0" y="0"/>
                    </a:moveTo>
                    <a:lnTo>
                      <a:pt x="802243" y="0"/>
                    </a:lnTo>
                    <a:lnTo>
                      <a:pt x="802243" y="1788376"/>
                    </a:lnTo>
                    <a:lnTo>
                      <a:pt x="0" y="17883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0"/>
                <a:ext cx="802243" cy="1788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0426391" y="0"/>
              <a:ext cx="3475464" cy="9570925"/>
              <a:chOff x="0" y="0"/>
              <a:chExt cx="802243" cy="220926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02243" cy="2209261"/>
              </a:xfrm>
              <a:custGeom>
                <a:avLst/>
                <a:gdLst/>
                <a:ahLst/>
                <a:cxnLst/>
                <a:rect l="l" t="t" r="r" b="b"/>
                <a:pathLst>
                  <a:path w="802243" h="2209261">
                    <a:moveTo>
                      <a:pt x="0" y="0"/>
                    </a:moveTo>
                    <a:lnTo>
                      <a:pt x="802243" y="0"/>
                    </a:lnTo>
                    <a:lnTo>
                      <a:pt x="802243" y="2209261"/>
                    </a:lnTo>
                    <a:lnTo>
                      <a:pt x="0" y="22092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0"/>
                <a:ext cx="802243" cy="2209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13623526" y="532056"/>
            <a:ext cx="4158996" cy="926728"/>
            <a:chOff x="0" y="0"/>
            <a:chExt cx="5682336" cy="126616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682336" cy="1266166"/>
            </a:xfrm>
            <a:custGeom>
              <a:avLst/>
              <a:gdLst/>
              <a:ahLst/>
              <a:cxnLst/>
              <a:rect l="l" t="t" r="r" b="b"/>
              <a:pathLst>
                <a:path w="5682336" h="1266166">
                  <a:moveTo>
                    <a:pt x="5479136" y="0"/>
                  </a:moveTo>
                  <a:cubicBezTo>
                    <a:pt x="5591361" y="0"/>
                    <a:pt x="5682336" y="283441"/>
                    <a:pt x="5682336" y="633083"/>
                  </a:cubicBezTo>
                  <a:cubicBezTo>
                    <a:pt x="5682336" y="982725"/>
                    <a:pt x="5591361" y="1266166"/>
                    <a:pt x="5479136" y="1266166"/>
                  </a:cubicBezTo>
                  <a:lnTo>
                    <a:pt x="203200" y="1266166"/>
                  </a:lnTo>
                  <a:cubicBezTo>
                    <a:pt x="90976" y="1266166"/>
                    <a:pt x="0" y="982725"/>
                    <a:pt x="0" y="633083"/>
                  </a:cubicBezTo>
                  <a:cubicBezTo>
                    <a:pt x="0" y="2834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042D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5682336" cy="1266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322566" y="429691"/>
            <a:ext cx="13651065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52"/>
              </a:lnSpc>
            </a:pPr>
            <a:r>
              <a:rPr lang="en-US" sz="8000" b="1" spc="-386" dirty="0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Tech Stack &amp; Architecture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810277" y="668209"/>
            <a:ext cx="3721686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  <a:spcBef>
                <a:spcPct val="0"/>
              </a:spcBef>
            </a:pPr>
            <a:r>
              <a:rPr lang="en-US" sz="2238" b="1" spc="-134">
                <a:solidFill>
                  <a:srgbClr val="EDEDE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LIBRARIES, TOOLS AND HOW THEY CONNECT 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0209666" y="3141484"/>
            <a:ext cx="7572856" cy="6766477"/>
            <a:chOff x="0" y="0"/>
            <a:chExt cx="2179195" cy="19471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79195" cy="1947148"/>
            </a:xfrm>
            <a:custGeom>
              <a:avLst/>
              <a:gdLst/>
              <a:ahLst/>
              <a:cxnLst/>
              <a:rect l="l" t="t" r="r" b="b"/>
              <a:pathLst>
                <a:path w="2179195" h="1947148">
                  <a:moveTo>
                    <a:pt x="36804" y="0"/>
                  </a:moveTo>
                  <a:lnTo>
                    <a:pt x="2142391" y="0"/>
                  </a:lnTo>
                  <a:cubicBezTo>
                    <a:pt x="2152152" y="0"/>
                    <a:pt x="2161513" y="3878"/>
                    <a:pt x="2168415" y="10780"/>
                  </a:cubicBezTo>
                  <a:cubicBezTo>
                    <a:pt x="2175317" y="17682"/>
                    <a:pt x="2179195" y="27043"/>
                    <a:pt x="2179195" y="36804"/>
                  </a:cubicBezTo>
                  <a:lnTo>
                    <a:pt x="2179195" y="1910344"/>
                  </a:lnTo>
                  <a:cubicBezTo>
                    <a:pt x="2179195" y="1930671"/>
                    <a:pt x="2162717" y="1947148"/>
                    <a:pt x="2142391" y="1947148"/>
                  </a:cubicBezTo>
                  <a:lnTo>
                    <a:pt x="36804" y="1947148"/>
                  </a:lnTo>
                  <a:cubicBezTo>
                    <a:pt x="16478" y="1947148"/>
                    <a:pt x="0" y="1930671"/>
                    <a:pt x="0" y="1910344"/>
                  </a:cubicBezTo>
                  <a:lnTo>
                    <a:pt x="0" y="36804"/>
                  </a:lnTo>
                  <a:cubicBezTo>
                    <a:pt x="0" y="16478"/>
                    <a:pt x="16478" y="0"/>
                    <a:pt x="36804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179195" cy="1985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22567" y="2332405"/>
            <a:ext cx="9473629" cy="753966"/>
            <a:chOff x="0" y="0"/>
            <a:chExt cx="2547034" cy="20270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9141" y="2441755"/>
            <a:ext cx="675218" cy="535266"/>
            <a:chOff x="0" y="0"/>
            <a:chExt cx="446395" cy="35387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22567" y="3115558"/>
            <a:ext cx="9473629" cy="753966"/>
            <a:chOff x="0" y="0"/>
            <a:chExt cx="2547034" cy="20270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59141" y="3224908"/>
            <a:ext cx="675218" cy="535266"/>
            <a:chOff x="0" y="0"/>
            <a:chExt cx="446395" cy="35387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22567" y="3898712"/>
            <a:ext cx="9473629" cy="753966"/>
            <a:chOff x="0" y="0"/>
            <a:chExt cx="2547034" cy="20270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59141" y="4008062"/>
            <a:ext cx="675218" cy="535266"/>
            <a:chOff x="0" y="0"/>
            <a:chExt cx="446395" cy="35387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22567" y="4681866"/>
            <a:ext cx="9473629" cy="753966"/>
            <a:chOff x="0" y="0"/>
            <a:chExt cx="2547034" cy="20270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59141" y="4791216"/>
            <a:ext cx="675218" cy="535266"/>
            <a:chOff x="0" y="0"/>
            <a:chExt cx="446395" cy="353871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22567" y="5465019"/>
            <a:ext cx="9473629" cy="753966"/>
            <a:chOff x="0" y="0"/>
            <a:chExt cx="2547034" cy="20270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59141" y="5574369"/>
            <a:ext cx="675218" cy="535266"/>
            <a:chOff x="0" y="0"/>
            <a:chExt cx="446395" cy="353871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22567" y="6248173"/>
            <a:ext cx="9473629" cy="753966"/>
            <a:chOff x="0" y="0"/>
            <a:chExt cx="2547034" cy="20270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59141" y="6357523"/>
            <a:ext cx="675218" cy="535266"/>
            <a:chOff x="0" y="0"/>
            <a:chExt cx="446395" cy="35387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22567" y="7031327"/>
            <a:ext cx="9473629" cy="753966"/>
            <a:chOff x="0" y="0"/>
            <a:chExt cx="2547034" cy="202708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59141" y="7140677"/>
            <a:ext cx="675218" cy="535266"/>
            <a:chOff x="0" y="0"/>
            <a:chExt cx="446395" cy="353871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22567" y="7814480"/>
            <a:ext cx="9473629" cy="753966"/>
            <a:chOff x="0" y="0"/>
            <a:chExt cx="2547034" cy="20270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59141" y="7923830"/>
            <a:ext cx="675218" cy="535266"/>
            <a:chOff x="0" y="0"/>
            <a:chExt cx="446395" cy="353871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0460225" y="3359617"/>
            <a:ext cx="7097813" cy="619257"/>
            <a:chOff x="0" y="0"/>
            <a:chExt cx="1958853" cy="17090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958853" cy="170903"/>
            </a:xfrm>
            <a:custGeom>
              <a:avLst/>
              <a:gdLst/>
              <a:ahLst/>
              <a:cxnLst/>
              <a:rect l="l" t="t" r="r" b="b"/>
              <a:pathLst>
                <a:path w="1958853" h="170903">
                  <a:moveTo>
                    <a:pt x="55628" y="0"/>
                  </a:moveTo>
                  <a:lnTo>
                    <a:pt x="1903225" y="0"/>
                  </a:lnTo>
                  <a:cubicBezTo>
                    <a:pt x="1917979" y="0"/>
                    <a:pt x="1932128" y="5861"/>
                    <a:pt x="1942560" y="16293"/>
                  </a:cubicBezTo>
                  <a:cubicBezTo>
                    <a:pt x="1952992" y="26725"/>
                    <a:pt x="1958853" y="40875"/>
                    <a:pt x="1958853" y="55628"/>
                  </a:cubicBezTo>
                  <a:lnTo>
                    <a:pt x="1958853" y="115274"/>
                  </a:lnTo>
                  <a:cubicBezTo>
                    <a:pt x="1958853" y="130028"/>
                    <a:pt x="1952992" y="144177"/>
                    <a:pt x="1942560" y="154609"/>
                  </a:cubicBezTo>
                  <a:cubicBezTo>
                    <a:pt x="1932128" y="165042"/>
                    <a:pt x="1917979" y="170903"/>
                    <a:pt x="1903225" y="170903"/>
                  </a:cubicBezTo>
                  <a:lnTo>
                    <a:pt x="55628" y="170903"/>
                  </a:lnTo>
                  <a:cubicBezTo>
                    <a:pt x="40875" y="170903"/>
                    <a:pt x="26725" y="165042"/>
                    <a:pt x="16293" y="154609"/>
                  </a:cubicBezTo>
                  <a:cubicBezTo>
                    <a:pt x="5861" y="144177"/>
                    <a:pt x="0" y="130028"/>
                    <a:pt x="0" y="115274"/>
                  </a:cubicBezTo>
                  <a:lnTo>
                    <a:pt x="0" y="55628"/>
                  </a:lnTo>
                  <a:cubicBezTo>
                    <a:pt x="0" y="40875"/>
                    <a:pt x="5861" y="26725"/>
                    <a:pt x="16293" y="16293"/>
                  </a:cubicBezTo>
                  <a:cubicBezTo>
                    <a:pt x="26725" y="5861"/>
                    <a:pt x="40875" y="0"/>
                    <a:pt x="55628" y="0"/>
                  </a:cubicBezTo>
                  <a:close/>
                </a:path>
              </a:pathLst>
            </a:custGeom>
            <a:solidFill>
              <a:srgbClr val="29292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1958853" cy="209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0802532" y="3391147"/>
            <a:ext cx="147542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840"/>
              </a:lnSpc>
            </a:pPr>
            <a:r>
              <a:rPr lang="en-US" sz="3200" b="1" spc="-160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app.py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04459" y="2519463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/1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386838" y="2519463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OpenAi - Whisper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40091" y="1675180"/>
            <a:ext cx="572028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Dependencies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088569" y="2479708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Speech to text engine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04459" y="3302617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/2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86838" y="3302617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Deep translator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088569" y="3262862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Google Translate wrapper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04459" y="4085770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/3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386838" y="4085770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moviepy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5088569" y="4046015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Audio extraction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04459" y="4868924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386838" y="4868924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pygame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088569" y="4829169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Audio playback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04459" y="5652078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/5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386838" y="5652078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opencv - python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088569" y="5612323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Video frame rendering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04459" y="6435231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/6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386838" y="6435231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pillow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5088569" y="6395476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Image display on canvas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704459" y="7218385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/7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386838" y="7218385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torch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5088569" y="7178630"/>
            <a:ext cx="4427251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Required backend for Whisper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704459" y="8001539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/8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386838" y="8001539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ffmpeg (system)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088569" y="7961783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Audio/video processing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0460225" y="2365504"/>
            <a:ext cx="241159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Architecture</a:t>
            </a:r>
          </a:p>
        </p:txBody>
      </p:sp>
      <p:grpSp>
        <p:nvGrpSpPr>
          <p:cNvPr id="132" name="Group 132"/>
          <p:cNvGrpSpPr/>
          <p:nvPr/>
        </p:nvGrpSpPr>
        <p:grpSpPr>
          <a:xfrm>
            <a:off x="13623526" y="3978874"/>
            <a:ext cx="493462" cy="493462"/>
            <a:chOff x="0" y="0"/>
            <a:chExt cx="812800" cy="81280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4" name="TextBox 134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3623526" y="5134354"/>
            <a:ext cx="493462" cy="493462"/>
            <a:chOff x="0" y="0"/>
            <a:chExt cx="812800" cy="812800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7" name="TextBox 137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13623526" y="6896449"/>
            <a:ext cx="493462" cy="493462"/>
            <a:chOff x="0" y="0"/>
            <a:chExt cx="812800" cy="812800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0" name="TextBox 140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3623526" y="6255578"/>
            <a:ext cx="493462" cy="493462"/>
            <a:chOff x="0" y="0"/>
            <a:chExt cx="812800" cy="812800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3" name="TextBox 143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322567" y="8582734"/>
            <a:ext cx="9473629" cy="753966"/>
            <a:chOff x="0" y="0"/>
            <a:chExt cx="2547034" cy="202708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146" name="TextBox 146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10460225" y="9041765"/>
            <a:ext cx="7097813" cy="619257"/>
            <a:chOff x="0" y="0"/>
            <a:chExt cx="1958853" cy="170903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1958853" cy="170903"/>
            </a:xfrm>
            <a:custGeom>
              <a:avLst/>
              <a:gdLst/>
              <a:ahLst/>
              <a:cxnLst/>
              <a:rect l="l" t="t" r="r" b="b"/>
              <a:pathLst>
                <a:path w="1958853" h="170903">
                  <a:moveTo>
                    <a:pt x="55628" y="0"/>
                  </a:moveTo>
                  <a:lnTo>
                    <a:pt x="1903225" y="0"/>
                  </a:lnTo>
                  <a:cubicBezTo>
                    <a:pt x="1917979" y="0"/>
                    <a:pt x="1932128" y="5861"/>
                    <a:pt x="1942560" y="16293"/>
                  </a:cubicBezTo>
                  <a:cubicBezTo>
                    <a:pt x="1952992" y="26725"/>
                    <a:pt x="1958853" y="40875"/>
                    <a:pt x="1958853" y="55628"/>
                  </a:cubicBezTo>
                  <a:lnTo>
                    <a:pt x="1958853" y="115274"/>
                  </a:lnTo>
                  <a:cubicBezTo>
                    <a:pt x="1958853" y="130028"/>
                    <a:pt x="1952992" y="144177"/>
                    <a:pt x="1942560" y="154609"/>
                  </a:cubicBezTo>
                  <a:cubicBezTo>
                    <a:pt x="1932128" y="165042"/>
                    <a:pt x="1917979" y="170903"/>
                    <a:pt x="1903225" y="170903"/>
                  </a:cubicBezTo>
                  <a:lnTo>
                    <a:pt x="55628" y="170903"/>
                  </a:lnTo>
                  <a:cubicBezTo>
                    <a:pt x="40875" y="170903"/>
                    <a:pt x="26725" y="165042"/>
                    <a:pt x="16293" y="154609"/>
                  </a:cubicBezTo>
                  <a:cubicBezTo>
                    <a:pt x="5861" y="144177"/>
                    <a:pt x="0" y="130028"/>
                    <a:pt x="0" y="115274"/>
                  </a:cubicBezTo>
                  <a:lnTo>
                    <a:pt x="0" y="55628"/>
                  </a:lnTo>
                  <a:cubicBezTo>
                    <a:pt x="0" y="40875"/>
                    <a:pt x="5861" y="26725"/>
                    <a:pt x="16293" y="16293"/>
                  </a:cubicBezTo>
                  <a:cubicBezTo>
                    <a:pt x="26725" y="5861"/>
                    <a:pt x="40875" y="0"/>
                    <a:pt x="55628" y="0"/>
                  </a:cubicBezTo>
                  <a:close/>
                </a:path>
              </a:pathLst>
            </a:custGeom>
            <a:solidFill>
              <a:srgbClr val="29292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0" y="-38100"/>
              <a:ext cx="1958853" cy="209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559141" y="8706371"/>
            <a:ext cx="675218" cy="535266"/>
            <a:chOff x="0" y="0"/>
            <a:chExt cx="446395" cy="353871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2" name="TextBox 152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3" name="TextBox 153"/>
          <p:cNvSpPr txBox="1"/>
          <p:nvPr/>
        </p:nvSpPr>
        <p:spPr>
          <a:xfrm>
            <a:off x="704459" y="8784080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/8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386838" y="8784080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gTTs</a:t>
            </a:r>
          </a:p>
        </p:txBody>
      </p:sp>
      <p:grpSp>
        <p:nvGrpSpPr>
          <p:cNvPr id="155" name="Group 155"/>
          <p:cNvGrpSpPr/>
          <p:nvPr/>
        </p:nvGrpSpPr>
        <p:grpSpPr>
          <a:xfrm>
            <a:off x="10460225" y="6768906"/>
            <a:ext cx="7097813" cy="619257"/>
            <a:chOff x="0" y="0"/>
            <a:chExt cx="1958853" cy="170903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1958853" cy="170903"/>
            </a:xfrm>
            <a:custGeom>
              <a:avLst/>
              <a:gdLst/>
              <a:ahLst/>
              <a:cxnLst/>
              <a:rect l="l" t="t" r="r" b="b"/>
              <a:pathLst>
                <a:path w="1958853" h="170903">
                  <a:moveTo>
                    <a:pt x="55628" y="0"/>
                  </a:moveTo>
                  <a:lnTo>
                    <a:pt x="1903225" y="0"/>
                  </a:lnTo>
                  <a:cubicBezTo>
                    <a:pt x="1917979" y="0"/>
                    <a:pt x="1932128" y="5861"/>
                    <a:pt x="1942560" y="16293"/>
                  </a:cubicBezTo>
                  <a:cubicBezTo>
                    <a:pt x="1952992" y="26725"/>
                    <a:pt x="1958853" y="40875"/>
                    <a:pt x="1958853" y="55628"/>
                  </a:cubicBezTo>
                  <a:lnTo>
                    <a:pt x="1958853" y="115274"/>
                  </a:lnTo>
                  <a:cubicBezTo>
                    <a:pt x="1958853" y="130028"/>
                    <a:pt x="1952992" y="144177"/>
                    <a:pt x="1942560" y="154609"/>
                  </a:cubicBezTo>
                  <a:cubicBezTo>
                    <a:pt x="1932128" y="165042"/>
                    <a:pt x="1917979" y="170903"/>
                    <a:pt x="1903225" y="170903"/>
                  </a:cubicBezTo>
                  <a:lnTo>
                    <a:pt x="55628" y="170903"/>
                  </a:lnTo>
                  <a:cubicBezTo>
                    <a:pt x="40875" y="170903"/>
                    <a:pt x="26725" y="165042"/>
                    <a:pt x="16293" y="154609"/>
                  </a:cubicBezTo>
                  <a:cubicBezTo>
                    <a:pt x="5861" y="144177"/>
                    <a:pt x="0" y="130028"/>
                    <a:pt x="0" y="115274"/>
                  </a:cubicBezTo>
                  <a:lnTo>
                    <a:pt x="0" y="55628"/>
                  </a:lnTo>
                  <a:cubicBezTo>
                    <a:pt x="0" y="40875"/>
                    <a:pt x="5861" y="26725"/>
                    <a:pt x="16293" y="16293"/>
                  </a:cubicBezTo>
                  <a:cubicBezTo>
                    <a:pt x="26725" y="5861"/>
                    <a:pt x="40875" y="0"/>
                    <a:pt x="55628" y="0"/>
                  </a:cubicBezTo>
                  <a:close/>
                </a:path>
              </a:pathLst>
            </a:custGeom>
            <a:solidFill>
              <a:srgbClr val="29292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0" y="-38100"/>
              <a:ext cx="1958853" cy="209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0460225" y="7905335"/>
            <a:ext cx="7097813" cy="619257"/>
            <a:chOff x="0" y="0"/>
            <a:chExt cx="1958853" cy="170903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1958853" cy="170903"/>
            </a:xfrm>
            <a:custGeom>
              <a:avLst/>
              <a:gdLst/>
              <a:ahLst/>
              <a:cxnLst/>
              <a:rect l="l" t="t" r="r" b="b"/>
              <a:pathLst>
                <a:path w="1958853" h="170903">
                  <a:moveTo>
                    <a:pt x="55628" y="0"/>
                  </a:moveTo>
                  <a:lnTo>
                    <a:pt x="1903225" y="0"/>
                  </a:lnTo>
                  <a:cubicBezTo>
                    <a:pt x="1917979" y="0"/>
                    <a:pt x="1932128" y="5861"/>
                    <a:pt x="1942560" y="16293"/>
                  </a:cubicBezTo>
                  <a:cubicBezTo>
                    <a:pt x="1952992" y="26725"/>
                    <a:pt x="1958853" y="40875"/>
                    <a:pt x="1958853" y="55628"/>
                  </a:cubicBezTo>
                  <a:lnTo>
                    <a:pt x="1958853" y="115274"/>
                  </a:lnTo>
                  <a:cubicBezTo>
                    <a:pt x="1958853" y="130028"/>
                    <a:pt x="1952992" y="144177"/>
                    <a:pt x="1942560" y="154609"/>
                  </a:cubicBezTo>
                  <a:cubicBezTo>
                    <a:pt x="1932128" y="165042"/>
                    <a:pt x="1917979" y="170903"/>
                    <a:pt x="1903225" y="170903"/>
                  </a:cubicBezTo>
                  <a:lnTo>
                    <a:pt x="55628" y="170903"/>
                  </a:lnTo>
                  <a:cubicBezTo>
                    <a:pt x="40875" y="170903"/>
                    <a:pt x="26725" y="165042"/>
                    <a:pt x="16293" y="154609"/>
                  </a:cubicBezTo>
                  <a:cubicBezTo>
                    <a:pt x="5861" y="144177"/>
                    <a:pt x="0" y="130028"/>
                    <a:pt x="0" y="115274"/>
                  </a:cubicBezTo>
                  <a:lnTo>
                    <a:pt x="0" y="55628"/>
                  </a:lnTo>
                  <a:cubicBezTo>
                    <a:pt x="0" y="40875"/>
                    <a:pt x="5861" y="26725"/>
                    <a:pt x="16293" y="16293"/>
                  </a:cubicBezTo>
                  <a:cubicBezTo>
                    <a:pt x="26725" y="5861"/>
                    <a:pt x="40875" y="0"/>
                    <a:pt x="55628" y="0"/>
                  </a:cubicBezTo>
                  <a:close/>
                </a:path>
              </a:pathLst>
            </a:custGeom>
            <a:solidFill>
              <a:srgbClr val="29292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0" y="-38100"/>
              <a:ext cx="1958853" cy="209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1" name="TextBox 161"/>
          <p:cNvSpPr txBox="1"/>
          <p:nvPr/>
        </p:nvSpPr>
        <p:spPr>
          <a:xfrm>
            <a:off x="5088569" y="8744324"/>
            <a:ext cx="3607946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AI voice generation</a:t>
            </a:r>
          </a:p>
        </p:txBody>
      </p:sp>
      <p:grpSp>
        <p:nvGrpSpPr>
          <p:cNvPr id="162" name="Group 162"/>
          <p:cNvGrpSpPr/>
          <p:nvPr/>
        </p:nvGrpSpPr>
        <p:grpSpPr>
          <a:xfrm>
            <a:off x="10460225" y="4496047"/>
            <a:ext cx="7097813" cy="619257"/>
            <a:chOff x="0" y="0"/>
            <a:chExt cx="1958853" cy="170903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1958853" cy="170903"/>
            </a:xfrm>
            <a:custGeom>
              <a:avLst/>
              <a:gdLst/>
              <a:ahLst/>
              <a:cxnLst/>
              <a:rect l="l" t="t" r="r" b="b"/>
              <a:pathLst>
                <a:path w="1958853" h="170903">
                  <a:moveTo>
                    <a:pt x="55628" y="0"/>
                  </a:moveTo>
                  <a:lnTo>
                    <a:pt x="1903225" y="0"/>
                  </a:lnTo>
                  <a:cubicBezTo>
                    <a:pt x="1917979" y="0"/>
                    <a:pt x="1932128" y="5861"/>
                    <a:pt x="1942560" y="16293"/>
                  </a:cubicBezTo>
                  <a:cubicBezTo>
                    <a:pt x="1952992" y="26725"/>
                    <a:pt x="1958853" y="40875"/>
                    <a:pt x="1958853" y="55628"/>
                  </a:cubicBezTo>
                  <a:lnTo>
                    <a:pt x="1958853" y="115274"/>
                  </a:lnTo>
                  <a:cubicBezTo>
                    <a:pt x="1958853" y="130028"/>
                    <a:pt x="1952992" y="144177"/>
                    <a:pt x="1942560" y="154609"/>
                  </a:cubicBezTo>
                  <a:cubicBezTo>
                    <a:pt x="1932128" y="165042"/>
                    <a:pt x="1917979" y="170903"/>
                    <a:pt x="1903225" y="170903"/>
                  </a:cubicBezTo>
                  <a:lnTo>
                    <a:pt x="55628" y="170903"/>
                  </a:lnTo>
                  <a:cubicBezTo>
                    <a:pt x="40875" y="170903"/>
                    <a:pt x="26725" y="165042"/>
                    <a:pt x="16293" y="154609"/>
                  </a:cubicBezTo>
                  <a:cubicBezTo>
                    <a:pt x="5861" y="144177"/>
                    <a:pt x="0" y="130028"/>
                    <a:pt x="0" y="115274"/>
                  </a:cubicBezTo>
                  <a:lnTo>
                    <a:pt x="0" y="55628"/>
                  </a:lnTo>
                  <a:cubicBezTo>
                    <a:pt x="0" y="40875"/>
                    <a:pt x="5861" y="26725"/>
                    <a:pt x="16293" y="16293"/>
                  </a:cubicBezTo>
                  <a:cubicBezTo>
                    <a:pt x="26725" y="5861"/>
                    <a:pt x="40875" y="0"/>
                    <a:pt x="55628" y="0"/>
                  </a:cubicBezTo>
                  <a:close/>
                </a:path>
              </a:pathLst>
            </a:custGeom>
            <a:solidFill>
              <a:srgbClr val="29292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0" y="-38100"/>
              <a:ext cx="1958853" cy="209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322567" y="9350987"/>
            <a:ext cx="9473629" cy="753966"/>
            <a:chOff x="0" y="0"/>
            <a:chExt cx="2547034" cy="202708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2547034" cy="202708"/>
            </a:xfrm>
            <a:custGeom>
              <a:avLst/>
              <a:gdLst/>
              <a:ahLst/>
              <a:cxnLst/>
              <a:rect l="l" t="t" r="r" b="b"/>
              <a:pathLst>
                <a:path w="2547034" h="202708">
                  <a:moveTo>
                    <a:pt x="29419" y="0"/>
                  </a:moveTo>
                  <a:lnTo>
                    <a:pt x="2517614" y="0"/>
                  </a:lnTo>
                  <a:cubicBezTo>
                    <a:pt x="2525417" y="0"/>
                    <a:pt x="2532900" y="3100"/>
                    <a:pt x="2538417" y="8617"/>
                  </a:cubicBezTo>
                  <a:cubicBezTo>
                    <a:pt x="2543934" y="14134"/>
                    <a:pt x="2547034" y="21617"/>
                    <a:pt x="2547034" y="29419"/>
                  </a:cubicBezTo>
                  <a:lnTo>
                    <a:pt x="2547034" y="173288"/>
                  </a:lnTo>
                  <a:cubicBezTo>
                    <a:pt x="2547034" y="181091"/>
                    <a:pt x="2543934" y="188574"/>
                    <a:pt x="2538417" y="194091"/>
                  </a:cubicBezTo>
                  <a:cubicBezTo>
                    <a:pt x="2532900" y="199608"/>
                    <a:pt x="2525417" y="202708"/>
                    <a:pt x="2517614" y="202708"/>
                  </a:cubicBezTo>
                  <a:lnTo>
                    <a:pt x="29419" y="202708"/>
                  </a:lnTo>
                  <a:cubicBezTo>
                    <a:pt x="21617" y="202708"/>
                    <a:pt x="14134" y="199608"/>
                    <a:pt x="8617" y="194091"/>
                  </a:cubicBezTo>
                  <a:cubicBezTo>
                    <a:pt x="3100" y="188574"/>
                    <a:pt x="0" y="181091"/>
                    <a:pt x="0" y="173288"/>
                  </a:cubicBezTo>
                  <a:lnTo>
                    <a:pt x="0" y="29419"/>
                  </a:lnTo>
                  <a:cubicBezTo>
                    <a:pt x="0" y="21617"/>
                    <a:pt x="3100" y="14134"/>
                    <a:pt x="8617" y="8617"/>
                  </a:cubicBezTo>
                  <a:cubicBezTo>
                    <a:pt x="14134" y="3100"/>
                    <a:pt x="21617" y="0"/>
                    <a:pt x="29419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167" name="TextBox 167"/>
            <p:cNvSpPr txBox="1"/>
            <p:nvPr/>
          </p:nvSpPr>
          <p:spPr>
            <a:xfrm>
              <a:off x="0" y="-38100"/>
              <a:ext cx="2547034" cy="24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10460225" y="5632476"/>
            <a:ext cx="7097813" cy="619257"/>
            <a:chOff x="0" y="0"/>
            <a:chExt cx="1958853" cy="170903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958853" cy="170903"/>
            </a:xfrm>
            <a:custGeom>
              <a:avLst/>
              <a:gdLst/>
              <a:ahLst/>
              <a:cxnLst/>
              <a:rect l="l" t="t" r="r" b="b"/>
              <a:pathLst>
                <a:path w="1958853" h="170903">
                  <a:moveTo>
                    <a:pt x="55628" y="0"/>
                  </a:moveTo>
                  <a:lnTo>
                    <a:pt x="1903225" y="0"/>
                  </a:lnTo>
                  <a:cubicBezTo>
                    <a:pt x="1917979" y="0"/>
                    <a:pt x="1932128" y="5861"/>
                    <a:pt x="1942560" y="16293"/>
                  </a:cubicBezTo>
                  <a:cubicBezTo>
                    <a:pt x="1952992" y="26725"/>
                    <a:pt x="1958853" y="40875"/>
                    <a:pt x="1958853" y="55628"/>
                  </a:cubicBezTo>
                  <a:lnTo>
                    <a:pt x="1958853" y="115274"/>
                  </a:lnTo>
                  <a:cubicBezTo>
                    <a:pt x="1958853" y="130028"/>
                    <a:pt x="1952992" y="144177"/>
                    <a:pt x="1942560" y="154609"/>
                  </a:cubicBezTo>
                  <a:cubicBezTo>
                    <a:pt x="1932128" y="165042"/>
                    <a:pt x="1917979" y="170903"/>
                    <a:pt x="1903225" y="170903"/>
                  </a:cubicBezTo>
                  <a:lnTo>
                    <a:pt x="55628" y="170903"/>
                  </a:lnTo>
                  <a:cubicBezTo>
                    <a:pt x="40875" y="170903"/>
                    <a:pt x="26725" y="165042"/>
                    <a:pt x="16293" y="154609"/>
                  </a:cubicBezTo>
                  <a:cubicBezTo>
                    <a:pt x="5861" y="144177"/>
                    <a:pt x="0" y="130028"/>
                    <a:pt x="0" y="115274"/>
                  </a:cubicBezTo>
                  <a:lnTo>
                    <a:pt x="0" y="55628"/>
                  </a:lnTo>
                  <a:cubicBezTo>
                    <a:pt x="0" y="40875"/>
                    <a:pt x="5861" y="26725"/>
                    <a:pt x="16293" y="16293"/>
                  </a:cubicBezTo>
                  <a:cubicBezTo>
                    <a:pt x="26725" y="5861"/>
                    <a:pt x="40875" y="0"/>
                    <a:pt x="55628" y="0"/>
                  </a:cubicBezTo>
                  <a:close/>
                </a:path>
              </a:pathLst>
            </a:custGeom>
            <a:solidFill>
              <a:srgbClr val="29292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0" y="-38100"/>
              <a:ext cx="1958853" cy="209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1" name="TextBox 171"/>
          <p:cNvSpPr txBox="1"/>
          <p:nvPr/>
        </p:nvSpPr>
        <p:spPr>
          <a:xfrm>
            <a:off x="10802532" y="5714421"/>
            <a:ext cx="3171100" cy="44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62" b="1" spc="-143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Whisper Model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10824994" y="9082678"/>
            <a:ext cx="3171100" cy="44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62" b="1" spc="-143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pygame + OpenCV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10824994" y="4583818"/>
            <a:ext cx="3885095" cy="43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1" spc="-139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FFmpeg / MoviePy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10824994" y="6854076"/>
            <a:ext cx="3171100" cy="44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62" b="1" spc="-143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Deep-translator</a:t>
            </a:r>
          </a:p>
        </p:txBody>
      </p:sp>
      <p:grpSp>
        <p:nvGrpSpPr>
          <p:cNvPr id="175" name="Group 175"/>
          <p:cNvGrpSpPr/>
          <p:nvPr/>
        </p:nvGrpSpPr>
        <p:grpSpPr>
          <a:xfrm>
            <a:off x="559141" y="9460337"/>
            <a:ext cx="675218" cy="535266"/>
            <a:chOff x="0" y="0"/>
            <a:chExt cx="446395" cy="353871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446395" cy="353871"/>
            </a:xfrm>
            <a:custGeom>
              <a:avLst/>
              <a:gdLst/>
              <a:ahLst/>
              <a:cxnLst/>
              <a:rect l="l" t="t" r="r" b="b"/>
              <a:pathLst>
                <a:path w="446395" h="353871">
                  <a:moveTo>
                    <a:pt x="176935" y="0"/>
                  </a:moveTo>
                  <a:lnTo>
                    <a:pt x="269459" y="0"/>
                  </a:lnTo>
                  <a:cubicBezTo>
                    <a:pt x="316386" y="0"/>
                    <a:pt x="361390" y="18641"/>
                    <a:pt x="394571" y="51823"/>
                  </a:cubicBezTo>
                  <a:cubicBezTo>
                    <a:pt x="427753" y="85005"/>
                    <a:pt x="446395" y="130009"/>
                    <a:pt x="446395" y="176935"/>
                  </a:cubicBezTo>
                  <a:lnTo>
                    <a:pt x="446395" y="176935"/>
                  </a:lnTo>
                  <a:cubicBezTo>
                    <a:pt x="446395" y="223861"/>
                    <a:pt x="427753" y="268866"/>
                    <a:pt x="394571" y="302047"/>
                  </a:cubicBezTo>
                  <a:cubicBezTo>
                    <a:pt x="361390" y="335229"/>
                    <a:pt x="316386" y="353871"/>
                    <a:pt x="269459" y="353871"/>
                  </a:cubicBezTo>
                  <a:lnTo>
                    <a:pt x="176935" y="353871"/>
                  </a:lnTo>
                  <a:cubicBezTo>
                    <a:pt x="130009" y="353871"/>
                    <a:pt x="85005" y="335229"/>
                    <a:pt x="51823" y="302047"/>
                  </a:cubicBezTo>
                  <a:cubicBezTo>
                    <a:pt x="18641" y="268866"/>
                    <a:pt x="0" y="223861"/>
                    <a:pt x="0" y="176935"/>
                  </a:cubicBezTo>
                  <a:lnTo>
                    <a:pt x="0" y="176935"/>
                  </a:lnTo>
                  <a:cubicBezTo>
                    <a:pt x="0" y="130009"/>
                    <a:pt x="18641" y="85005"/>
                    <a:pt x="51823" y="51823"/>
                  </a:cubicBezTo>
                  <a:cubicBezTo>
                    <a:pt x="85005" y="18641"/>
                    <a:pt x="130009" y="0"/>
                    <a:pt x="176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7" name="TextBox 177"/>
            <p:cNvSpPr txBox="1"/>
            <p:nvPr/>
          </p:nvSpPr>
          <p:spPr>
            <a:xfrm>
              <a:off x="0" y="-38100"/>
              <a:ext cx="446395" cy="39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8" name="TextBox 178"/>
          <p:cNvSpPr txBox="1"/>
          <p:nvPr/>
        </p:nvSpPr>
        <p:spPr>
          <a:xfrm>
            <a:off x="704459" y="9538045"/>
            <a:ext cx="443255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/8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1386838" y="9538045"/>
            <a:ext cx="3156831" cy="36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064"/>
              </a:lnSpc>
            </a:pPr>
            <a:r>
              <a:rPr lang="en-US" sz="2553" b="1" spc="-127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pydub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5088569" y="9498290"/>
            <a:ext cx="4427251" cy="38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Audio processing &amp; merging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10824994" y="7962826"/>
            <a:ext cx="3171100" cy="44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62" b="1" spc="-143">
                <a:solidFill>
                  <a:srgbClr val="EDED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gTTS + pydub</a:t>
            </a:r>
          </a:p>
        </p:txBody>
      </p:sp>
      <p:grpSp>
        <p:nvGrpSpPr>
          <p:cNvPr id="182" name="Group 182"/>
          <p:cNvGrpSpPr/>
          <p:nvPr/>
        </p:nvGrpSpPr>
        <p:grpSpPr>
          <a:xfrm>
            <a:off x="13623526" y="7411874"/>
            <a:ext cx="493462" cy="493462"/>
            <a:chOff x="0" y="0"/>
            <a:chExt cx="812800" cy="812800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4" name="TextBox 184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13623526" y="8568170"/>
            <a:ext cx="493462" cy="493462"/>
            <a:chOff x="0" y="0"/>
            <a:chExt cx="812800" cy="812800"/>
          </a:xfrm>
        </p:grpSpPr>
        <p:sp>
          <p:nvSpPr>
            <p:cNvPr id="186" name="Freeform 1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7" name="TextBox 187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0728" y="390892"/>
            <a:ext cx="2732854" cy="502851"/>
            <a:chOff x="0" y="0"/>
            <a:chExt cx="2208669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8669" cy="406400"/>
            </a:xfrm>
            <a:custGeom>
              <a:avLst/>
              <a:gdLst/>
              <a:ahLst/>
              <a:cxnLst/>
              <a:rect l="l" t="t" r="r" b="b"/>
              <a:pathLst>
                <a:path w="2208669" h="406400">
                  <a:moveTo>
                    <a:pt x="2005469" y="0"/>
                  </a:moveTo>
                  <a:cubicBezTo>
                    <a:pt x="2117693" y="0"/>
                    <a:pt x="2208669" y="90976"/>
                    <a:pt x="2208669" y="203200"/>
                  </a:cubicBezTo>
                  <a:cubicBezTo>
                    <a:pt x="2208669" y="315424"/>
                    <a:pt x="2117693" y="406400"/>
                    <a:pt x="20054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042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08669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108806"/>
            <a:ext cx="18288000" cy="7178194"/>
            <a:chOff x="0" y="0"/>
            <a:chExt cx="24384000" cy="957092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4307738"/>
              <a:ext cx="3484342" cy="5263187"/>
              <a:chOff x="0" y="0"/>
              <a:chExt cx="795961" cy="120231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95961" cy="1202319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02319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02319"/>
                    </a:lnTo>
                    <a:lnTo>
                      <a:pt x="0" y="12023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795961" cy="12023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0899658" y="4307738"/>
              <a:ext cx="3484342" cy="5263187"/>
              <a:chOff x="0" y="0"/>
              <a:chExt cx="795961" cy="120231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5961" cy="1202319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02319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02319"/>
                    </a:lnTo>
                    <a:lnTo>
                      <a:pt x="0" y="12023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795961" cy="12023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484342" y="3112079"/>
              <a:ext cx="3484342" cy="6458846"/>
              <a:chOff x="0" y="0"/>
              <a:chExt cx="795961" cy="147545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95961" cy="147545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7545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75454"/>
                    </a:lnTo>
                    <a:lnTo>
                      <a:pt x="0" y="147545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795961" cy="1475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7415315" y="3112079"/>
              <a:ext cx="3484342" cy="6458846"/>
              <a:chOff x="0" y="0"/>
              <a:chExt cx="795961" cy="147545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95961" cy="147545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7545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75454"/>
                    </a:lnTo>
                    <a:lnTo>
                      <a:pt x="0" y="147545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795961" cy="1475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968685" y="1823352"/>
              <a:ext cx="3484342" cy="7747573"/>
              <a:chOff x="0" y="0"/>
              <a:chExt cx="795961" cy="17698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95961" cy="176985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6985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69850"/>
                    </a:lnTo>
                    <a:lnTo>
                      <a:pt x="0" y="17698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795961" cy="1769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3937369" y="1823352"/>
              <a:ext cx="3484342" cy="7747573"/>
              <a:chOff x="0" y="0"/>
              <a:chExt cx="795961" cy="17698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95961" cy="176985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6985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69850"/>
                    </a:lnTo>
                    <a:lnTo>
                      <a:pt x="0" y="17698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795961" cy="1769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53027" y="0"/>
              <a:ext cx="3484342" cy="9570925"/>
              <a:chOff x="0" y="0"/>
              <a:chExt cx="795961" cy="21863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95961" cy="2186375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186375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186375"/>
                    </a:lnTo>
                    <a:lnTo>
                      <a:pt x="0" y="218637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795961" cy="2186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435032" y="516004"/>
            <a:ext cx="1670896" cy="27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sz="2316" b="1" spc="-104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Summary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1171575"/>
            <a:ext cx="8910747" cy="2413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2"/>
              </a:lnSpc>
            </a:pPr>
            <a:r>
              <a:rPr lang="en-US" sz="9079" b="1" spc="-408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What Translytic Delivers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3203" y="3766037"/>
            <a:ext cx="17421595" cy="626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871" lvl="1" indent="-343435" algn="l">
              <a:lnSpc>
                <a:spcPts val="4135"/>
              </a:lnSpc>
              <a:buFont typeface="Arial"/>
              <a:buChar char="•"/>
            </a:pPr>
            <a:r>
              <a:rPr lang="en-US" sz="3181" spc="-101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🎥 Wide Format Support - Compatible with MP4, MOV, AVI, MKV, and WebM video form</a:t>
            </a:r>
            <a:r>
              <a:rPr lang="en-US" sz="3181" u="none" strike="noStrike" spc="-101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ats</a:t>
            </a:r>
          </a:p>
          <a:p>
            <a:pPr algn="l">
              <a:lnSpc>
                <a:spcPts val="4135"/>
              </a:lnSpc>
            </a:pPr>
            <a:endParaRPr lang="en-US" sz="3181" u="none" strike="noStrike" spc="-101">
              <a:solidFill>
                <a:srgbClr val="0F042D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marL="686871" lvl="1" indent="-343435" algn="l">
              <a:lnSpc>
                <a:spcPts val="4135"/>
              </a:lnSpc>
              <a:buFont typeface="Arial"/>
              <a:buChar char="•"/>
            </a:pPr>
            <a:r>
              <a:rPr lang="en-US" sz="3181" u="none" strike="noStrike" spc="-101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🌍 Multilingual Translation - Supports 10+ languages including Hindi, Marathi, Spanish, French, and more</a:t>
            </a:r>
          </a:p>
          <a:p>
            <a:pPr algn="l">
              <a:lnSpc>
                <a:spcPts val="4135"/>
              </a:lnSpc>
            </a:pPr>
            <a:endParaRPr lang="en-US" sz="3181" u="none" strike="noStrike" spc="-101">
              <a:solidFill>
                <a:srgbClr val="0F042D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marL="686871" lvl="1" indent="-343435" algn="l">
              <a:lnSpc>
                <a:spcPts val="4135"/>
              </a:lnSpc>
              <a:buFont typeface="Arial"/>
              <a:buChar char="•"/>
            </a:pPr>
            <a:r>
              <a:rPr lang="en-US" sz="3181" u="none" strike="noStrike" spc="-101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⚙️ Automated AI Pipeline - Seamless 4-step process: Audio Extraction → Transcription → Translation</a:t>
            </a:r>
          </a:p>
          <a:p>
            <a:pPr algn="l">
              <a:lnSpc>
                <a:spcPts val="4135"/>
              </a:lnSpc>
            </a:pPr>
            <a:endParaRPr lang="en-US" sz="3181" u="none" strike="noStrike" spc="-101">
              <a:solidFill>
                <a:srgbClr val="0F042D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marL="686871" lvl="1" indent="-343435" algn="l">
              <a:lnSpc>
                <a:spcPts val="4135"/>
              </a:lnSpc>
              <a:buFont typeface="Arial"/>
              <a:buChar char="•"/>
            </a:pPr>
            <a:r>
              <a:rPr lang="en-US" sz="3181" u="none" strike="noStrike" spc="-101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🔊 AI Voice Dubbing – Converts translated text into synchronized speech</a:t>
            </a:r>
          </a:p>
          <a:p>
            <a:pPr algn="l">
              <a:lnSpc>
                <a:spcPts val="4135"/>
              </a:lnSpc>
            </a:pPr>
            <a:endParaRPr lang="en-US" sz="3181" u="none" strike="noStrike" spc="-101">
              <a:solidFill>
                <a:srgbClr val="0F042D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marL="686871" lvl="1" indent="-343435" algn="l">
              <a:lnSpc>
                <a:spcPts val="4135"/>
              </a:lnSpc>
              <a:buFont typeface="Arial"/>
              <a:buChar char="•"/>
            </a:pPr>
            <a:r>
              <a:rPr lang="en-US" sz="3181" u="none" strike="noStrike" spc="-101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💾 Subtitle Export - Generate and download industry-standard .SRT files for use in any video editing tool</a:t>
            </a:r>
          </a:p>
          <a:p>
            <a:pPr algn="l">
              <a:lnSpc>
                <a:spcPts val="4135"/>
              </a:lnSpc>
            </a:pPr>
            <a:endParaRPr lang="en-US" sz="3181" u="none" strike="noStrike" spc="-101">
              <a:solidFill>
                <a:srgbClr val="0F042D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marL="686871" lvl="1" indent="-343435" algn="l">
              <a:lnSpc>
                <a:spcPts val="4135"/>
              </a:lnSpc>
              <a:buFont typeface="Arial"/>
              <a:buChar char="•"/>
            </a:pPr>
            <a:r>
              <a:rPr lang="en-US" sz="3181" u="none" strike="noStrike" spc="-101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🖥️ Cross-Platform Compatibility - Runs smoothly on Windows, macOS, and Linux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7060052"/>
            <a:chOff x="0" y="0"/>
            <a:chExt cx="24384000" cy="941340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236839"/>
              <a:ext cx="3484342" cy="5176563"/>
              <a:chOff x="0" y="0"/>
              <a:chExt cx="795961" cy="11825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95961" cy="118253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18253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182530"/>
                    </a:lnTo>
                    <a:lnTo>
                      <a:pt x="0" y="11825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0"/>
                <a:ext cx="795961" cy="11825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0899658" y="4236839"/>
              <a:ext cx="3484342" cy="5176563"/>
              <a:chOff x="0" y="0"/>
              <a:chExt cx="795961" cy="11825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95961" cy="118253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18253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182530"/>
                    </a:lnTo>
                    <a:lnTo>
                      <a:pt x="0" y="11825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795961" cy="11825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84342" y="3060859"/>
              <a:ext cx="3484342" cy="6352544"/>
              <a:chOff x="0" y="0"/>
              <a:chExt cx="795961" cy="145117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5961" cy="145117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5117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51171"/>
                    </a:lnTo>
                    <a:lnTo>
                      <a:pt x="0" y="145117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795961" cy="14511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7415315" y="3060859"/>
              <a:ext cx="3484342" cy="6352544"/>
              <a:chOff x="0" y="0"/>
              <a:chExt cx="795961" cy="145117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95961" cy="145117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45117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451171"/>
                    </a:lnTo>
                    <a:lnTo>
                      <a:pt x="0" y="145117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795961" cy="14511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968685" y="1793343"/>
              <a:ext cx="3484342" cy="7620060"/>
              <a:chOff x="0" y="0"/>
              <a:chExt cx="795961" cy="174072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95961" cy="174072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4072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40721"/>
                    </a:lnTo>
                    <a:lnTo>
                      <a:pt x="0" y="174072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795961" cy="1740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937369" y="1793343"/>
              <a:ext cx="3484342" cy="7620060"/>
              <a:chOff x="0" y="0"/>
              <a:chExt cx="795961" cy="174072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95961" cy="174072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74072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740721"/>
                    </a:lnTo>
                    <a:lnTo>
                      <a:pt x="0" y="174072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795961" cy="1740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453027" y="0"/>
              <a:ext cx="3484342" cy="9413402"/>
              <a:chOff x="0" y="0"/>
              <a:chExt cx="795961" cy="215039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95961" cy="2150391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150391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150391"/>
                    </a:lnTo>
                    <a:lnTo>
                      <a:pt x="0" y="215039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795961" cy="2150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0" y="0"/>
            <a:ext cx="18288000" cy="3435909"/>
            <a:chOff x="0" y="0"/>
            <a:chExt cx="4816593" cy="9049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16592" cy="904931"/>
            </a:xfrm>
            <a:custGeom>
              <a:avLst/>
              <a:gdLst/>
              <a:ahLst/>
              <a:cxnLst/>
              <a:rect l="l" t="t" r="r" b="b"/>
              <a:pathLst>
                <a:path w="4816592" h="904931">
                  <a:moveTo>
                    <a:pt x="0" y="0"/>
                  </a:moveTo>
                  <a:lnTo>
                    <a:pt x="4816592" y="0"/>
                  </a:lnTo>
                  <a:lnTo>
                    <a:pt x="4816592" y="904931"/>
                  </a:lnTo>
                  <a:lnTo>
                    <a:pt x="0" y="904931"/>
                  </a:lnTo>
                  <a:close/>
                </a:path>
              </a:pathLst>
            </a:custGeom>
            <a:gradFill rotWithShape="1">
              <a:gsLst>
                <a:gs pos="0">
                  <a:srgbClr val="905BF4">
                    <a:alpha val="0"/>
                  </a:srgbClr>
                </a:gs>
                <a:gs pos="50000">
                  <a:srgbClr val="905BF4">
                    <a:alpha val="14060"/>
                  </a:srgbClr>
                </a:gs>
                <a:gs pos="100000">
                  <a:srgbClr val="905BF4">
                    <a:alpha val="37000"/>
                  </a:srgbClr>
                </a:gs>
              </a:gsLst>
              <a:lin ang="54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816593" cy="943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1170" y="380703"/>
            <a:ext cx="3041054" cy="502851"/>
            <a:chOff x="0" y="0"/>
            <a:chExt cx="2457754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57754" cy="406400"/>
            </a:xfrm>
            <a:custGeom>
              <a:avLst/>
              <a:gdLst/>
              <a:ahLst/>
              <a:cxnLst/>
              <a:rect l="l" t="t" r="r" b="b"/>
              <a:pathLst>
                <a:path w="2457754" h="406400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0F042D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48650" y="519416"/>
            <a:ext cx="1066093" cy="30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499" b="1" spc="-112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Scope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181100"/>
            <a:ext cx="16230600" cy="130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8"/>
              </a:lnSpc>
            </a:pPr>
            <a:r>
              <a:rPr lang="en-US" sz="9600" b="1" spc="-432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Future Scope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0504" y="4504799"/>
            <a:ext cx="17146991" cy="3223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7"/>
              </a:lnSpc>
            </a:pPr>
            <a:r>
              <a:rPr lang="en-US" sz="4905" spc="-156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🌐 Convert into a web-based platform (React + FastAPI)</a:t>
            </a:r>
          </a:p>
          <a:p>
            <a:pPr algn="l">
              <a:lnSpc>
                <a:spcPts val="6377"/>
              </a:lnSpc>
            </a:pPr>
            <a:r>
              <a:rPr lang="en-US" sz="4905" spc="-156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⚡ Add re</a:t>
            </a:r>
            <a:r>
              <a:rPr lang="en-US" sz="4905" u="none" strike="noStrike" spc="-156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al-time live streaming captions (YouTube, Zoom, etc.)</a:t>
            </a:r>
          </a:p>
          <a:p>
            <a:pPr algn="l">
              <a:lnSpc>
                <a:spcPts val="6377"/>
              </a:lnSpc>
            </a:pPr>
            <a:r>
              <a:rPr lang="en-US" sz="4905" u="none" strike="noStrike" spc="-156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📝 Provide editable subtitle editor inside the app</a:t>
            </a:r>
          </a:p>
          <a:p>
            <a:pPr algn="l">
              <a:lnSpc>
                <a:spcPts val="6377"/>
              </a:lnSpc>
            </a:pPr>
            <a:r>
              <a:rPr lang="en-US" sz="4905" u="none" strike="noStrike" spc="-156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☁️ Cloud storage for saving and accessing processed videos</a:t>
            </a:r>
          </a:p>
        </p:txBody>
      </p:sp>
      <p:sp>
        <p:nvSpPr>
          <p:cNvPr id="33" name="Freeform 33"/>
          <p:cNvSpPr/>
          <p:nvPr/>
        </p:nvSpPr>
        <p:spPr>
          <a:xfrm>
            <a:off x="7581072" y="2483739"/>
            <a:ext cx="1859135" cy="1859135"/>
          </a:xfrm>
          <a:custGeom>
            <a:avLst/>
            <a:gdLst/>
            <a:ahLst/>
            <a:cxnLst/>
            <a:rect l="l" t="t" r="r" b="b"/>
            <a:pathLst>
              <a:path w="1859135" h="1859135">
                <a:moveTo>
                  <a:pt x="0" y="0"/>
                </a:moveTo>
                <a:lnTo>
                  <a:pt x="1859134" y="0"/>
                </a:lnTo>
                <a:lnTo>
                  <a:pt x="1859134" y="1859135"/>
                </a:lnTo>
                <a:lnTo>
                  <a:pt x="0" y="185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7060052"/>
            <a:chOff x="0" y="0"/>
            <a:chExt cx="24384000" cy="941340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236839"/>
              <a:ext cx="3484342" cy="5176563"/>
              <a:chOff x="0" y="0"/>
              <a:chExt cx="804292" cy="119490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04292" cy="1194908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194908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194908"/>
                    </a:lnTo>
                    <a:lnTo>
                      <a:pt x="0" y="119490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0"/>
                <a:ext cx="804292" cy="1194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0899658" y="4236839"/>
              <a:ext cx="3484342" cy="5176563"/>
              <a:chOff x="0" y="0"/>
              <a:chExt cx="804292" cy="119490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04292" cy="1194908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194908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194908"/>
                    </a:lnTo>
                    <a:lnTo>
                      <a:pt x="0" y="119490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804292" cy="1194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84342" y="3060859"/>
              <a:ext cx="3484342" cy="6352544"/>
              <a:chOff x="0" y="0"/>
              <a:chExt cx="804292" cy="14663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04292" cy="1466360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466360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466360"/>
                    </a:lnTo>
                    <a:lnTo>
                      <a:pt x="0" y="146636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804292" cy="14663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7415315" y="3060859"/>
              <a:ext cx="3484342" cy="6352544"/>
              <a:chOff x="0" y="0"/>
              <a:chExt cx="804292" cy="14663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04292" cy="1466360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466360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466360"/>
                    </a:lnTo>
                    <a:lnTo>
                      <a:pt x="0" y="146636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804292" cy="14663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968685" y="1793343"/>
              <a:ext cx="3484342" cy="7620060"/>
              <a:chOff x="0" y="0"/>
              <a:chExt cx="804292" cy="17589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04292" cy="1758941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758941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758941"/>
                    </a:lnTo>
                    <a:lnTo>
                      <a:pt x="0" y="17589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804292" cy="17589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937369" y="1793343"/>
              <a:ext cx="3484342" cy="7620060"/>
              <a:chOff x="0" y="0"/>
              <a:chExt cx="804292" cy="175894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04292" cy="1758941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1758941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1758941"/>
                    </a:lnTo>
                    <a:lnTo>
                      <a:pt x="0" y="17589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804292" cy="17589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453027" y="0"/>
              <a:ext cx="3484342" cy="9413402"/>
              <a:chOff x="0" y="0"/>
              <a:chExt cx="804292" cy="21729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04292" cy="2172900"/>
              </a:xfrm>
              <a:custGeom>
                <a:avLst/>
                <a:gdLst/>
                <a:ahLst/>
                <a:cxnLst/>
                <a:rect l="l" t="t" r="r" b="b"/>
                <a:pathLst>
                  <a:path w="804292" h="2172900">
                    <a:moveTo>
                      <a:pt x="0" y="0"/>
                    </a:moveTo>
                    <a:lnTo>
                      <a:pt x="804292" y="0"/>
                    </a:lnTo>
                    <a:lnTo>
                      <a:pt x="804292" y="2172900"/>
                    </a:lnTo>
                    <a:lnTo>
                      <a:pt x="0" y="21729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804292" cy="217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109021" y="267282"/>
            <a:ext cx="5675485" cy="108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29"/>
              </a:lnSpc>
            </a:pPr>
            <a:r>
              <a:rPr lang="en-US" sz="7989" b="1" spc="-359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References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83582" y="1354395"/>
            <a:ext cx="17520835" cy="8772128"/>
            <a:chOff x="0" y="0"/>
            <a:chExt cx="4614541" cy="231035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14541" cy="2310355"/>
            </a:xfrm>
            <a:custGeom>
              <a:avLst/>
              <a:gdLst/>
              <a:ahLst/>
              <a:cxnLst/>
              <a:rect l="l" t="t" r="r" b="b"/>
              <a:pathLst>
                <a:path w="4614541" h="2310355">
                  <a:moveTo>
                    <a:pt x="15907" y="0"/>
                  </a:moveTo>
                  <a:lnTo>
                    <a:pt x="4598634" y="0"/>
                  </a:lnTo>
                  <a:cubicBezTo>
                    <a:pt x="4607419" y="0"/>
                    <a:pt x="4614541" y="7122"/>
                    <a:pt x="4614541" y="15907"/>
                  </a:cubicBezTo>
                  <a:lnTo>
                    <a:pt x="4614541" y="2294448"/>
                  </a:lnTo>
                  <a:cubicBezTo>
                    <a:pt x="4614541" y="2303233"/>
                    <a:pt x="4607419" y="2310355"/>
                    <a:pt x="4598634" y="2310355"/>
                  </a:cubicBezTo>
                  <a:lnTo>
                    <a:pt x="15907" y="2310355"/>
                  </a:lnTo>
                  <a:cubicBezTo>
                    <a:pt x="7122" y="2310355"/>
                    <a:pt x="0" y="2303233"/>
                    <a:pt x="0" y="2294448"/>
                  </a:cubicBezTo>
                  <a:lnTo>
                    <a:pt x="0" y="15907"/>
                  </a:lnTo>
                  <a:cubicBezTo>
                    <a:pt x="0" y="7122"/>
                    <a:pt x="7122" y="0"/>
                    <a:pt x="15907" y="0"/>
                  </a:cubicBezTo>
                  <a:close/>
                </a:path>
              </a:pathLst>
            </a:custGeom>
            <a:ln w="19050" cap="rnd">
              <a:solidFill>
                <a:srgbClr val="0F042D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4614541" cy="2310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6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04326" y="1486622"/>
            <a:ext cx="14044259" cy="8524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Real-time Speech-to-Speech Translation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SeamlessM4T—Massively Multilingual &amp; Multimodal MachineTranslation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Direct Models for S</a:t>
            </a: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imultaneous Translation &amp; Automatic Subtitling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SBAAM! Eliminating Transcript Dependency in Automatic Subtitling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Leveraging Broadcast Subtitle Transcripts for Automatic Speech Recognition and Subtitling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Text with Knowledge Graph Augmented Transformer for Video Captioning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Accurate and Fast Compressed Video Captioning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Video-Guided Machine Translation: A Survey of Models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A Deep Learning Framework for Real-Time Video Captioning and Multilingual Translation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Ensemble-based Multilingual Video Captioning with Multimodal Integration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LongCaptioning: Unlocking the Power of Long Video Captioning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Generative AI for Video Translation: A Scalable Architecture...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MV-GPT: End-to-End Generative Pre-training for Multimodal Video Captioning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Center-Enhanced Video Captioning with Multimodal Semantic Alignment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Gen AI Multilingual Audio Dubbing and Synthesis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AI-Powered Real-Time Video Caption Recommendation System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AI Enhanced Video Language Translation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Automated Caption Generation for Video Call with Language Translation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Real Time Video Captioning Using Deep Learning</a:t>
            </a:r>
          </a:p>
          <a:p>
            <a:pPr marL="558916" lvl="1" indent="-279458" algn="l">
              <a:lnSpc>
                <a:spcPts val="3365"/>
              </a:lnSpc>
              <a:buFont typeface="Arial"/>
              <a:buChar char="•"/>
            </a:pPr>
            <a:r>
              <a:rPr lang="en-US" sz="2588" u="none" strike="noStrike" spc="-82">
                <a:solidFill>
                  <a:srgbClr val="0F042D"/>
                </a:solidFill>
                <a:latin typeface="Aileron Light"/>
                <a:ea typeface="Aileron Light"/>
                <a:cs typeface="Aileron Light"/>
                <a:sym typeface="Aileron Light"/>
              </a:rPr>
              <a:t>Video Captioning Method Based on Semantic Topic Association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24623" y="4250676"/>
            <a:ext cx="11638754" cy="237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02"/>
              </a:lnSpc>
            </a:pPr>
            <a:r>
              <a:rPr lang="en-US" sz="19548" b="1" spc="-87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0" y="0"/>
            <a:ext cx="18288000" cy="7378284"/>
            <a:chOff x="0" y="0"/>
            <a:chExt cx="24384000" cy="983771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4427815"/>
              <a:ext cx="3484342" cy="5409897"/>
              <a:chOff x="0" y="0"/>
              <a:chExt cx="795961" cy="12358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0899658" y="4427815"/>
              <a:ext cx="3484342" cy="5409897"/>
              <a:chOff x="0" y="0"/>
              <a:chExt cx="795961" cy="12358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484342" y="3198827"/>
              <a:ext cx="3484342" cy="6638885"/>
              <a:chOff x="0" y="0"/>
              <a:chExt cx="795961" cy="151658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7415315" y="3198827"/>
              <a:ext cx="3484342" cy="6638885"/>
              <a:chOff x="0" y="0"/>
              <a:chExt cx="795961" cy="15165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968685" y="1874177"/>
              <a:ext cx="3484342" cy="7963534"/>
              <a:chOff x="0" y="0"/>
              <a:chExt cx="795961" cy="181918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937369" y="1874177"/>
              <a:ext cx="3484342" cy="7963534"/>
              <a:chOff x="0" y="0"/>
              <a:chExt cx="795961" cy="181918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453027" y="0"/>
              <a:ext cx="3484342" cy="9837711"/>
              <a:chOff x="0" y="0"/>
              <a:chExt cx="795961" cy="22473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95961" cy="224732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24732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0"/>
                <a:ext cx="795961" cy="2247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 rot="-10800000">
            <a:off x="0" y="0"/>
            <a:ext cx="18288000" cy="7378284"/>
            <a:chOff x="0" y="0"/>
            <a:chExt cx="24384000" cy="9837711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4427815"/>
              <a:ext cx="3484342" cy="5409897"/>
              <a:chOff x="0" y="0"/>
              <a:chExt cx="795961" cy="123583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0899658" y="4427815"/>
              <a:ext cx="3484342" cy="5409897"/>
              <a:chOff x="0" y="0"/>
              <a:chExt cx="795961" cy="123583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484342" y="3198827"/>
              <a:ext cx="3484342" cy="6638885"/>
              <a:chOff x="0" y="0"/>
              <a:chExt cx="795961" cy="151658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7415315" y="3198827"/>
              <a:ext cx="3484342" cy="6638885"/>
              <a:chOff x="0" y="0"/>
              <a:chExt cx="795961" cy="151658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968685" y="1874177"/>
              <a:ext cx="3484342" cy="7963534"/>
              <a:chOff x="0" y="0"/>
              <a:chExt cx="795961" cy="181918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3937369" y="1874177"/>
              <a:ext cx="3484342" cy="7963534"/>
              <a:chOff x="0" y="0"/>
              <a:chExt cx="795961" cy="181918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0453027" y="0"/>
              <a:ext cx="3484342" cy="9837711"/>
              <a:chOff x="0" y="0"/>
              <a:chExt cx="795961" cy="224732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795961" cy="224732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24732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0"/>
                <a:ext cx="795961" cy="2247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0" y="2908716"/>
            <a:ext cx="18288000" cy="7378284"/>
            <a:chOff x="0" y="0"/>
            <a:chExt cx="24384000" cy="983771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4427815"/>
              <a:ext cx="3484342" cy="5409897"/>
              <a:chOff x="0" y="0"/>
              <a:chExt cx="795961" cy="123583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0899658" y="4427815"/>
              <a:ext cx="3484342" cy="5409897"/>
              <a:chOff x="0" y="0"/>
              <a:chExt cx="795961" cy="123583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795961" cy="1235833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235833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0"/>
                <a:ext cx="795961" cy="1235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484342" y="3198827"/>
              <a:ext cx="3484342" cy="6638885"/>
              <a:chOff x="0" y="0"/>
              <a:chExt cx="795961" cy="1516582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7415315" y="3198827"/>
              <a:ext cx="3484342" cy="6638885"/>
              <a:chOff x="0" y="0"/>
              <a:chExt cx="795961" cy="151658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95961" cy="1516582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516582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0"/>
                <a:ext cx="795961" cy="1516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968685" y="1874177"/>
              <a:ext cx="3484342" cy="7963534"/>
              <a:chOff x="0" y="0"/>
              <a:chExt cx="795961" cy="181918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3937369" y="1874177"/>
              <a:ext cx="3484342" cy="7963534"/>
              <a:chOff x="0" y="0"/>
              <a:chExt cx="795961" cy="1819184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795961" cy="1819184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1819184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0"/>
                <a:ext cx="795961" cy="18191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8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10453027" y="0"/>
              <a:ext cx="3484342" cy="9837711"/>
              <a:chOff x="0" y="0"/>
              <a:chExt cx="795961" cy="224732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795961" cy="2247320"/>
              </a:xfrm>
              <a:custGeom>
                <a:avLst/>
                <a:gdLst/>
                <a:ahLst/>
                <a:cxnLst/>
                <a:rect l="l" t="t" r="r" b="b"/>
                <a:pathLst>
                  <a:path w="795961" h="2247320">
                    <a:moveTo>
                      <a:pt x="0" y="0"/>
                    </a:moveTo>
                    <a:lnTo>
                      <a:pt x="795961" y="0"/>
                    </a:lnTo>
                    <a:lnTo>
                      <a:pt x="795961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0" y="0"/>
                <a:ext cx="795961" cy="2247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6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690</Words>
  <Application>Microsoft Office PowerPoint</Application>
  <PresentationFormat>Custom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Akzidenz-Grotesk Heavy</vt:lpstr>
      <vt:lpstr>Aileron Bold</vt:lpstr>
      <vt:lpstr>Aileron Light</vt:lpstr>
      <vt:lpstr>Arial</vt:lpstr>
      <vt:lpstr>Calibri</vt:lpstr>
      <vt:lpstr>Bricolage Grotesque Bold</vt:lpstr>
      <vt:lpstr>Open Sauce Medium</vt:lpstr>
      <vt:lpstr>Open Sauce</vt:lpstr>
      <vt:lpstr>Akzidenz-Grotesk</vt:lpstr>
      <vt:lpstr>Open Sauce Italics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Translytic</dc:title>
  <cp:lastModifiedBy>Sanchit</cp:lastModifiedBy>
  <cp:revision>2</cp:revision>
  <dcterms:created xsi:type="dcterms:W3CDTF">2006-08-16T00:00:00Z</dcterms:created>
  <dcterms:modified xsi:type="dcterms:W3CDTF">2026-04-21T17:12:48Z</dcterms:modified>
  <dc:identifier>DAHHHdRfIPk</dc:identifier>
</cp:coreProperties>
</file>